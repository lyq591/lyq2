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  <p:defaultTextStyle>
    <a:defPPr>
      <a:defRPr lang="zh-CN"/>
    </a:defPPr>
    <a:lvl1pPr marL="0" algn="l">
      <a:defRPr sz="1800" lang="zh-CN">
        <a:solidFill>
          <a:srgbClr val="465667"/>
        </a:solidFill>
        <a:latin typeface="微软雅黑"/>
        <a:ea typeface="微软雅黑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80"/>
  </p:normalViewPr>
  <p:slideViewPr>
    <p:cSldViewPr snapToGrid="1" snapToObjects="1" showGuides="1">
      <p:viewPr>
        <p:scale cx="100" cy="100"/>
        <p:origin x="0" y="0"/>
      </p:viewPr>
    </p:cSldViewPr>
  </p:slideViewPr>
  <p:notesTextViewPr>
    <p:cViewPr>
      <p:scale cx="100" cy="100"/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presProps" Target="presProps.xml"/>
    <Relationship Id="rId3" Type="http://schemas.openxmlformats.org/officeDocument/2006/relationships/viewProps" Target="viewProps.xml"/>
    <Relationship Id="rId4" Type="http://schemas.openxmlformats.org/officeDocument/2006/relationships/tableStyles" Target="tableStyles.xml"/>
    <Relationship Id="rId5" Type="http://schemas.openxmlformats.org/officeDocument/2006/relationships/slide" Target="slides/slide1.xml"/>
    <Relationship Id="rId6" Type="http://schemas.openxmlformats.org/officeDocument/2006/relationships/slide" Target="slides/slide2.xml"/>
    <Relationship Id="rId7" Type="http://schemas.openxmlformats.org/officeDocument/2006/relationships/slide" Target="slides/slide3.xml"/>
    <Relationship Id="rId8" Type="http://schemas.openxmlformats.org/officeDocument/2006/relationships/slide" Target="slides/slide4.xml"/>
    <Relationship Id="rId9" Type="http://schemas.openxmlformats.org/officeDocument/2006/relationships/slide" Target="slides/slide5.xml"/>
    <Relationship Id="rId10" Type="http://schemas.openxmlformats.org/officeDocument/2006/relationships/slide" Target="slides/slide6.xml"/>
    <Relationship Id="rId11" Type="http://schemas.openxmlformats.org/officeDocument/2006/relationships/slide" Target="slides/slide7.xml"/>
    <Relationship Id="rId12" Type="http://schemas.openxmlformats.org/officeDocument/2006/relationships/slide" Target="slides/slide8.xml"/>
    <Relationship Id="rId13" Type="http://schemas.openxmlformats.org/officeDocument/2006/relationships/slide" Target="slides/slide9.xml"/>
    <Relationship Id="rId14" Type="http://schemas.openxmlformats.org/officeDocument/2006/relationships/slide" Target="slides/slide10.xml"/>
    <Relationship Id="rId15" Type="http://schemas.openxmlformats.org/officeDocument/2006/relationships/slide" Target="slides/slide11.xml"/>
    <Relationship Id="rId16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rgbClr val="0D1B2A"/>
          </a:solidFill>
          <a:latin typeface="微软雅黑"/>
          <a:ea typeface="微软雅黑"/>
        </a:defRPr>
      </a:lvl1pPr>
    </p:titleStyle>
    <p:bodyStyle>
      <a:lvl1pPr marL="342900" indent="-342900">
        <a:defRPr sz="1800">
          <a:solidFill>
            <a:srgbClr val="465667"/>
          </a:solidFill>
          <a:latin typeface="微软雅黑"/>
          <a:ea typeface="微软雅黑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4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6"/>
          <p:cNvSpPr txBox="1"/>
          <p:nvPr/>
        </p:nvSpPr>
        <p:spPr>
          <a:xfrm>
            <a:off x="720000" y="1440000"/>
            <a:ext cx="10080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3600" b="1" dirty="0">
                <a:solidFill>
                  <a:srgbClr val="0D1B2A"/>
                </a:solidFill>
                <a:latin typeface="微软雅黑"/>
                <a:ea typeface="微软雅黑"/>
              </a:rPr>
              <a:t>柔性作业车间智能调度辅助Agent系统</a:t>
            </a:r>
          </a:p>
        </p:txBody>
      </p:sp>
      <p:sp>
        <p:nvSpPr>
          <p:cNvPr id="17" name="TextBox 18"/>
          <p:cNvSpPr txBox="1"/>
          <p:nvPr/>
        </p:nvSpPr>
        <p:spPr>
          <a:xfrm>
            <a:off x="720000" y="2448000"/>
            <a:ext cx="10080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0" dirty="0">
                <a:solidFill>
                  <a:srgbClr val="64748B"/>
                </a:solidFill>
                <a:latin typeface="微软雅黑"/>
                <a:ea typeface="微软雅黑"/>
              </a:rPr>
              <a:t>基于遗传算法与数字孪生的制造智能调度平台</a:t>
            </a:r>
          </a:p>
        </p:txBody>
      </p:sp>
      <p:cxnSp>
        <p:nvCxnSpPr>
          <p:cNvPr id="19" name="Line 20"/>
          <p:cNvCxnSpPr/>
          <p:nvPr/>
        </p:nvCxnSpPr>
        <p:spPr>
          <a:xfrm>
            <a:off x="720000" y="3060000"/>
            <a:ext cx="2880000" cy="0"/>
          </a:xfrm>
          <a:prstGeom prst="line">
            <a:avLst/>
          </a:prstGeom>
          <a:ln w="19050">
            <a:solidFill>
              <a:srgbClr val="C9A66B"/>
            </a:solidFill>
          </a:ln>
        </p:spPr>
      </p:cxnSp>
      <p:sp>
        <p:nvSpPr>
          <p:cNvPr id="21" name="TextBox 22"/>
          <p:cNvSpPr txBox="1"/>
          <p:nvPr/>
        </p:nvSpPr>
        <p:spPr>
          <a:xfrm>
            <a:off x="720000" y="3311999"/>
            <a:ext cx="7200000" cy="10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60%"/>
            <a:r>
              <a:rPr lang="zh-CN" sz="1600" b="0" dirty="0">
                <a:solidFill>
                  <a:srgbClr val="465667"/>
                </a:solidFill>
                <a:latin typeface="微软雅黑"/>
                <a:ea typeface="微软雅黑"/>
              </a:rPr>
              <a:t>学生：李勇琦（学号09）</a:t>
            </a:r>
          </a:p>
          <a:p>
            <a:pPr algn="left" lnSpc="160%"/>
            <a:r>
              <a:rPr lang="zh-CN" sz="1600" b="0" dirty="0">
                <a:solidFill>
                  <a:srgbClr val="465667"/>
                </a:solidFill>
                <a:latin typeface="微软雅黑"/>
                <a:ea typeface="微软雅黑"/>
              </a:rPr>
              <a:t>指导教师：董绪斌</a:t>
            </a:r>
          </a:p>
          <a:p>
            <a:pPr algn="left" lnSpc="160%"/>
            <a:r>
              <a:rPr lang="zh-CN" sz="1600" b="0" dirty="0">
                <a:solidFill>
                  <a:srgbClr val="465667"/>
                </a:solidFill>
                <a:latin typeface="微软雅黑"/>
                <a:ea typeface="微软雅黑"/>
              </a:rPr>
              <a:t>课程：制造智能技术课程设计</a:t>
            </a:r>
          </a:p>
          <a:p>
            <a:pPr algn="left" lnSpc="160%"/>
            <a:r>
              <a:rPr lang="zh-CN" sz="1600" b="0" dirty="0">
                <a:solidFill>
                  <a:srgbClr val="465667"/>
                </a:solidFill>
                <a:latin typeface="微软雅黑"/>
                <a:ea typeface="微软雅黑"/>
              </a:rPr>
              <a:t>日期：2026年9月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54000" cy="685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360000"/>
            <a:ext cx="7200000" cy="5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3200" b="1" dirty="0">
                <a:solidFill>
                  <a:srgbClr val="0D1B2A"/>
                </a:solidFill>
                <a:latin typeface="微软雅黑"/>
                <a:ea typeface="微软雅黑"/>
              </a:rPr>
              <a:t>目录</a:t>
            </a:r>
          </a:p>
        </p:txBody>
      </p:sp>
      <p:cxnSp>
        <p:nvCxnSpPr>
          <p:cNvPr id="15" name="Line 16"/>
          <p:cNvCxnSpPr/>
          <p:nvPr/>
        </p:nvCxnSpPr>
        <p:spPr>
          <a:xfrm>
            <a:off x="540000" y="827999"/>
            <a:ext cx="1620000" cy="0"/>
          </a:xfrm>
          <a:prstGeom prst="line">
            <a:avLst/>
          </a:prstGeom>
          <a:ln w="19050">
            <a:solidFill>
              <a:srgbClr val="C9A66B"/>
            </a:solidFill>
          </a:ln>
        </p:spPr>
      </p:cxnSp>
      <p:sp>
        <p:nvSpPr>
          <p:cNvPr id="17" name="TextBox 18"/>
          <p:cNvSpPr txBox="1"/>
          <p:nvPr/>
        </p:nvSpPr>
        <p:spPr>
          <a:xfrm>
            <a:off x="720000" y="1152000"/>
            <a:ext cx="5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800" b="1" dirty="0">
                <a:solidFill>
                  <a:srgbClr val="C9A66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9" name="TextBox 20"/>
          <p:cNvSpPr txBox="1"/>
          <p:nvPr/>
        </p:nvSpPr>
        <p:spPr>
          <a:xfrm>
            <a:off x="1440000" y="1152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研究背景与意义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1440000" y="1386000"/>
            <a:ext cx="720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0" dirty="0">
                <a:solidFill>
                  <a:srgbClr val="64748B"/>
                </a:solidFill>
                <a:latin typeface="微软雅黑"/>
                <a:ea typeface="微软雅黑"/>
              </a:rPr>
              <a:t>FJSP问题、智能制造背景、研究价值</a:t>
            </a:r>
          </a:p>
        </p:txBody>
      </p:sp>
      <p:cxnSp>
        <p:nvCxnSpPr>
          <p:cNvPr id="23" name="Line 24"/>
          <p:cNvCxnSpPr/>
          <p:nvPr/>
        </p:nvCxnSpPr>
        <p:spPr>
          <a:xfrm>
            <a:off x="720000" y="1620000"/>
            <a:ext cx="93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25" name="TextBox 26"/>
          <p:cNvSpPr txBox="1"/>
          <p:nvPr/>
        </p:nvSpPr>
        <p:spPr>
          <a:xfrm>
            <a:off x="720000" y="1710000"/>
            <a:ext cx="5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800" b="1" dirty="0">
                <a:solidFill>
                  <a:srgbClr val="C9A66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1440000" y="1710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技术方向与系统架构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1440000" y="1944000"/>
            <a:ext cx="720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0" dirty="0">
                <a:solidFill>
                  <a:srgbClr val="64748B"/>
                </a:solidFill>
                <a:latin typeface="微软雅黑"/>
                <a:ea typeface="微软雅黑"/>
              </a:rPr>
              <a:t>4个技术方向映射、B/S三层架构</a:t>
            </a:r>
          </a:p>
        </p:txBody>
      </p:sp>
      <p:cxnSp>
        <p:nvCxnSpPr>
          <p:cNvPr id="31" name="Line 32"/>
          <p:cNvCxnSpPr/>
          <p:nvPr/>
        </p:nvCxnSpPr>
        <p:spPr>
          <a:xfrm>
            <a:off x="720000" y="2178000"/>
            <a:ext cx="93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33" name="TextBox 34"/>
          <p:cNvSpPr txBox="1"/>
          <p:nvPr/>
        </p:nvSpPr>
        <p:spPr>
          <a:xfrm>
            <a:off x="720000" y="2268000"/>
            <a:ext cx="5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800" b="1" dirty="0">
                <a:solidFill>
                  <a:srgbClr val="C9A66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1440000" y="2268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数据资源构建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1440000" y="2502000"/>
            <a:ext cx="720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0" dirty="0">
                <a:solidFill>
                  <a:srgbClr val="64748B"/>
                </a:solidFill>
                <a:latin typeface="微软雅黑"/>
                <a:ea typeface="微软雅黑"/>
              </a:rPr>
              <a:t>FJSP-F数据集、纯Python预处理流程</a:t>
            </a:r>
          </a:p>
        </p:txBody>
      </p:sp>
      <p:cxnSp>
        <p:nvCxnSpPr>
          <p:cNvPr id="39" name="Line 40"/>
          <p:cNvCxnSpPr/>
          <p:nvPr/>
        </p:nvCxnSpPr>
        <p:spPr>
          <a:xfrm>
            <a:off x="720000" y="2736000"/>
            <a:ext cx="93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41" name="TextBox 42"/>
          <p:cNvSpPr txBox="1"/>
          <p:nvPr/>
        </p:nvSpPr>
        <p:spPr>
          <a:xfrm>
            <a:off x="720000" y="2826000"/>
            <a:ext cx="5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800" b="1" dirty="0">
                <a:solidFill>
                  <a:srgbClr val="C9A66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1440000" y="2826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核心算法与系统实现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1440000" y="3060000"/>
            <a:ext cx="720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0" dirty="0">
                <a:solidFill>
                  <a:srgbClr val="64748B"/>
                </a:solidFill>
                <a:latin typeface="微软雅黑"/>
                <a:ea typeface="微软雅黑"/>
              </a:rPr>
              <a:t>遗传算法设计、后端API、前端7页面</a:t>
            </a:r>
          </a:p>
        </p:txBody>
      </p:sp>
      <p:cxnSp>
        <p:nvCxnSpPr>
          <p:cNvPr id="47" name="Line 48"/>
          <p:cNvCxnSpPr/>
          <p:nvPr/>
        </p:nvCxnSpPr>
        <p:spPr>
          <a:xfrm>
            <a:off x="720000" y="3294000"/>
            <a:ext cx="93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49" name="TextBox 50"/>
          <p:cNvSpPr txBox="1"/>
          <p:nvPr/>
        </p:nvSpPr>
        <p:spPr>
          <a:xfrm>
            <a:off x="720000" y="3384000"/>
            <a:ext cx="5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800" b="1" dirty="0">
                <a:solidFill>
                  <a:srgbClr val="C9A66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1" name="TextBox 52"/>
          <p:cNvSpPr txBox="1"/>
          <p:nvPr/>
        </p:nvSpPr>
        <p:spPr>
          <a:xfrm>
            <a:off x="1440000" y="3384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测试验证与AI使用披露</a:t>
            </a:r>
          </a:p>
        </p:txBody>
      </p:sp>
      <p:sp>
        <p:nvSpPr>
          <p:cNvPr id="53" name="TextBox 54"/>
          <p:cNvSpPr txBox="1"/>
          <p:nvPr/>
        </p:nvSpPr>
        <p:spPr>
          <a:xfrm>
            <a:off x="1440000" y="3618000"/>
            <a:ext cx="720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0" dirty="0">
                <a:solidFill>
                  <a:srgbClr val="64748B"/>
                </a:solidFill>
                <a:latin typeface="微软雅黑"/>
                <a:ea typeface="微软雅黑"/>
              </a:rPr>
              <a:t>28项自动化测试、AI工具与策略披露</a:t>
            </a:r>
          </a:p>
        </p:txBody>
      </p:sp>
      <p:cxnSp>
        <p:nvCxnSpPr>
          <p:cNvPr id="55" name="Line 56"/>
          <p:cNvCxnSpPr/>
          <p:nvPr/>
        </p:nvCxnSpPr>
        <p:spPr>
          <a:xfrm>
            <a:off x="720000" y="3852000"/>
            <a:ext cx="9360000" cy="0"/>
          </a:xfrm>
          <a:prstGeom prst="line">
            <a:avLst/>
          </a:prstGeom>
          <a:ln w="6350">
            <a:solidFill>
              <a:srgbClr val="64748B"/>
            </a:solidFill>
          </a:ln>
        </p:spPr>
      </p:cxnSp>
      <p:sp>
        <p:nvSpPr>
          <p:cNvPr id="57" name="TextBox 58"/>
          <p:cNvSpPr txBox="1"/>
          <p:nvPr/>
        </p:nvSpPr>
        <p:spPr>
          <a:xfrm>
            <a:off x="720000" y="3942000"/>
            <a:ext cx="54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800" b="1" dirty="0">
                <a:solidFill>
                  <a:srgbClr val="C9A66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9" name="TextBox 60"/>
          <p:cNvSpPr txBox="1"/>
          <p:nvPr/>
        </p:nvSpPr>
        <p:spPr>
          <a:xfrm>
            <a:off x="1440000" y="3942000"/>
            <a:ext cx="432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61" name="TextBox 62"/>
          <p:cNvSpPr txBox="1"/>
          <p:nvPr/>
        </p:nvSpPr>
        <p:spPr>
          <a:xfrm>
            <a:off x="1440000" y="4176000"/>
            <a:ext cx="720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0" dirty="0">
                <a:solidFill>
                  <a:srgbClr val="64748B"/>
                </a:solidFill>
                <a:latin typeface="微软雅黑"/>
                <a:ea typeface="微软雅黑"/>
              </a:rPr>
              <a:t>成果总结、不足分析、未来扩展方向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01  研究背景与意义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827999"/>
            <a:ext cx="46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研究背景</a:t>
            </a:r>
          </a:p>
        </p:txBody>
      </p:sp>
      <p:cxnSp>
        <p:nvCxnSpPr>
          <p:cNvPr id="17" name="Line 18"/>
          <p:cNvCxnSpPr/>
          <p:nvPr/>
        </p:nvCxnSpPr>
        <p:spPr>
          <a:xfrm>
            <a:off x="540000" y="1116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19" name="TextBox 20"/>
          <p:cNvSpPr txBox="1"/>
          <p:nvPr/>
        </p:nvSpPr>
        <p:spPr>
          <a:xfrm>
            <a:off x="540000" y="1224000"/>
            <a:ext cx="4680000" cy="2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40%"/>
            <a:r>
              <a:rPr lang="zh-CN" sz="1300" b="0" dirty="0">
                <a:solidFill>
                  <a:srgbClr val="465667"/>
                </a:solidFill>
                <a:latin typeface="微软雅黑"/>
                <a:ea typeface="微软雅黑"/>
              </a:rPr>
              <a:t>柔性作业车间调度（FJSP）是智能制造的核心问题，每道工序可在多台机器中选择，比传统JSP更贴近实际生产。</a:t>
            </a:r>
          </a:p>
          <a:p>
            <a:pPr algn="left"/>
          </a:p>
          <a:p>
            <a:pPr algn="left" lnSpc="140%"/>
            <a:r>
              <a:rPr lang="zh-CN" sz="1300" b="0" dirty="0">
                <a:solidFill>
                  <a:srgbClr val="465667"/>
                </a:solidFill>
                <a:latin typeface="微软雅黑"/>
                <a:ea typeface="微软雅黑"/>
              </a:rPr>
              <a:t>传统调度系统存在三大局限：</a:t>
            </a:r>
          </a:p>
          <a:p>
            <a:pPr algn="left" lnSpc="140%"/>
            <a:r>
              <a:rPr lang="zh-CN" sz="1300" b="0" dirty="0">
                <a:solidFill>
                  <a:srgbClr val="465667"/>
                </a:solidFill>
                <a:latin typeface="微软雅黑"/>
                <a:ea typeface="微软雅黑"/>
              </a:rPr>
              <a:t>• 问题规模大，组合复杂度指数增长</a:t>
            </a:r>
          </a:p>
          <a:p>
            <a:pPr algn="left" lnSpc="140%"/>
            <a:r>
              <a:rPr lang="zh-CN" sz="1300" b="0" dirty="0">
                <a:solidFill>
                  <a:srgbClr val="465667"/>
                </a:solidFill>
                <a:latin typeface="微软雅黑"/>
                <a:ea typeface="微软雅黑"/>
              </a:rPr>
              <a:t>• 约束条件多（机器/工装/交货期/优先级）</a:t>
            </a:r>
          </a:p>
          <a:p>
            <a:pPr algn="left" lnSpc="140%"/>
            <a:r>
              <a:rPr lang="zh-CN" sz="1300" b="0" dirty="0">
                <a:solidFill>
                  <a:srgbClr val="465667"/>
                </a:solidFill>
                <a:latin typeface="微软雅黑"/>
                <a:ea typeface="微软雅黑"/>
              </a:rPr>
              <a:t>• 决策过程不透明，方案难以理解和调整</a:t>
            </a:r>
          </a:p>
          <a:p>
            <a:pPr algn="left"/>
          </a:p>
          <a:p>
            <a:pPr algn="left" lnSpc="140%"/>
            <a:r>
              <a:rPr lang="zh-CN" sz="1300" b="0" dirty="0">
                <a:solidFill>
                  <a:srgbClr val="465667"/>
                </a:solidFill>
                <a:latin typeface="微软雅黑"/>
                <a:ea typeface="微软雅黑"/>
              </a:rPr>
              <a:t>AI Agent技术为解决上述问题提供了新思路：自然语言交互降低使用门槛，推理能力提升决策透明度。</a:t>
            </a:r>
          </a:p>
        </p:txBody>
      </p:sp>
      <p:sp>
        <p:nvSpPr>
          <p:cNvPr id="21" name="Rect 22"/>
          <p:cNvSpPr/>
          <p:nvPr/>
        </p:nvSpPr>
        <p:spPr>
          <a:xfrm>
            <a:off x="5760000" y="827999"/>
            <a:ext cx="5040000" cy="2592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4"/>
          <p:cNvSpPr txBox="1"/>
          <p:nvPr/>
        </p:nvSpPr>
        <p:spPr>
          <a:xfrm>
            <a:off x="5940000" y="936000"/>
            <a:ext cx="46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000" b="1" dirty="0">
                <a:solidFill>
                  <a:srgbClr val="0D1B2A"/>
                </a:solidFill>
                <a:latin typeface="微软雅黑"/>
                <a:ea typeface="微软雅黑"/>
              </a:rPr>
              <a:t>研究意义</a:t>
            </a:r>
          </a:p>
        </p:txBody>
      </p:sp>
      <p:cxnSp>
        <p:nvCxnSpPr>
          <p:cNvPr id="25" name="Line 26"/>
          <p:cNvCxnSpPr/>
          <p:nvPr/>
        </p:nvCxnSpPr>
        <p:spPr>
          <a:xfrm>
            <a:off x="5940000" y="1224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27" name="TextBox 28"/>
          <p:cNvSpPr txBox="1"/>
          <p:nvPr/>
        </p:nvSpPr>
        <p:spPr>
          <a:xfrm>
            <a:off x="5940000" y="1368000"/>
            <a:ext cx="7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600" b="1" dirty="0">
                <a:solidFill>
                  <a:srgbClr val="C9A66B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6192000" y="1368000"/>
            <a:ext cx="43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500" b="1" dirty="0">
                <a:solidFill>
                  <a:srgbClr val="0D1B2A"/>
                </a:solidFill>
                <a:latin typeface="微软雅黑"/>
                <a:ea typeface="微软雅黑"/>
              </a:rPr>
              <a:t>理论意义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6192000" y="1566000"/>
            <a:ext cx="4428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探索LLM Agent与FJSP调度系统的融合路径，验证AI Agent在复杂制造调度场景的适用性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5940000" y="2052000"/>
            <a:ext cx="7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600" b="1" dirty="0">
                <a:solidFill>
                  <a:srgbClr val="C9A66B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6192000" y="2052000"/>
            <a:ext cx="43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500" b="1" dirty="0">
                <a:solidFill>
                  <a:srgbClr val="0D1B2A"/>
                </a:solidFill>
                <a:latin typeface="微软雅黑"/>
                <a:ea typeface="微软雅黑"/>
              </a:rPr>
              <a:t>实践意义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6192000" y="2250000"/>
            <a:ext cx="4428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降低调度系统使用门槛，提升方案透明度和可解释性，符合人机协同发展趋势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5940000" y="2736000"/>
            <a:ext cx="7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600" b="1" dirty="0">
                <a:solidFill>
                  <a:srgbClr val="C9A66B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6192000" y="2736000"/>
            <a:ext cx="43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500" b="1" dirty="0">
                <a:solidFill>
                  <a:srgbClr val="0D1B2A"/>
                </a:solidFill>
                <a:latin typeface="微软雅黑"/>
                <a:ea typeface="微软雅黑"/>
              </a:rPr>
              <a:t>工程价值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6192000" y="2934000"/>
            <a:ext cx="4428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纯Python轻量架构，在受限环境仍可完整运行，一键启动/关闭，易于部署和演示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02  技术方向与系统架构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792000"/>
            <a:ext cx="720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课程技术方向覆盖（4个方向）</a:t>
            </a:r>
          </a:p>
        </p:txBody>
      </p:sp>
      <p:graphicFrame>
        <p:nvGraphicFramePr>
          <p:cNvPr id="17" name="Table 18"/>
          <p:cNvGraphicFramePr/>
          <p:nvPr/>
        </p:nvGraphicFramePr>
        <p:xfrm>
          <a:off x="540000" y="1080000"/>
          <a:ext cx="1008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  <a:gridCol w="5040000"/>
              </a:tblGrid>
              <a:tr h="2304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技术方向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C9A66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对应课程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C9A66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系统实现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C9A66B"/>
                      </a:solidFill>
                    </a:lnB>
                  </a:tcPr>
                </a:tc>
              </a:tr>
              <a:tr h="2304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工艺规划与车间调度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智能制造工艺与调度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遗传算法求解FJSP，POX交叉，收敛曲线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工业大数据采集与分析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工业大数据与机器学习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统计分析、瓶颈识别、多实例对比、负载均衡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数字孪生与系统仿真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数字孪生技术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车间状态映射、甘特图可视化、设备运行动画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304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智能制造系统集成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智能制造系统集成及应用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RESTful API、SQLite数据库、任务管理、决策解释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20"/>
          <p:cNvSpPr txBox="1"/>
          <p:nvPr/>
        </p:nvSpPr>
        <p:spPr>
          <a:xfrm>
            <a:off x="540000" y="2376000"/>
            <a:ext cx="720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B/S三层架构</a:t>
            </a:r>
          </a:p>
        </p:txBody>
      </p:sp>
      <p:sp>
        <p:nvSpPr>
          <p:cNvPr id="21" name="Rect 22"/>
          <p:cNvSpPr/>
          <p:nvPr/>
        </p:nvSpPr>
        <p:spPr>
          <a:xfrm>
            <a:off x="540000" y="2664000"/>
            <a:ext cx="1800000" cy="251999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4"/>
          <p:cNvSpPr txBox="1"/>
          <p:nvPr/>
        </p:nvSpPr>
        <p:spPr>
          <a:xfrm>
            <a:off x="540000" y="270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400" b="1" dirty="0">
                <a:solidFill>
                  <a:srgbClr val="FFFFFF"/>
                </a:solidFill>
                <a:latin typeface="微软雅黑"/>
                <a:ea typeface="微软雅黑"/>
              </a:rPr>
              <a:t>表现层</a:t>
            </a:r>
          </a:p>
        </p:txBody>
      </p:sp>
      <p:sp>
        <p:nvSpPr>
          <p:cNvPr id="25" name="Rect 26"/>
          <p:cNvSpPr/>
          <p:nvPr/>
        </p:nvSpPr>
        <p:spPr>
          <a:xfrm>
            <a:off x="2448000" y="2664000"/>
            <a:ext cx="8172000" cy="251999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 28"/>
          <p:cNvSpPr txBox="1"/>
          <p:nvPr/>
        </p:nvSpPr>
        <p:spPr>
          <a:xfrm>
            <a:off x="2592000" y="2692800"/>
            <a:ext cx="79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Vue 3 + ECharts 5</a:t>
            </a:r>
          </a:p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7个功能页面：概览/数据集/调度/分析/数字孪生/历史</a:t>
            </a:r>
          </a:p>
        </p:txBody>
      </p:sp>
      <p:sp>
        <p:nvSpPr>
          <p:cNvPr id="29" name="Rect 30"/>
          <p:cNvSpPr/>
          <p:nvPr/>
        </p:nvSpPr>
        <p:spPr>
          <a:xfrm>
            <a:off x="540000" y="2970000"/>
            <a:ext cx="1800000" cy="251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2"/>
          <p:cNvSpPr txBox="1"/>
          <p:nvPr/>
        </p:nvSpPr>
        <p:spPr>
          <a:xfrm>
            <a:off x="540000" y="3006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400" b="1" dirty="0">
                <a:solidFill>
                  <a:srgbClr val="FFFFFF"/>
                </a:solidFill>
                <a:latin typeface="微软雅黑"/>
                <a:ea typeface="微软雅黑"/>
              </a:rPr>
              <a:t>业务逻辑层</a:t>
            </a:r>
          </a:p>
        </p:txBody>
      </p:sp>
      <p:sp>
        <p:nvSpPr>
          <p:cNvPr id="33" name="Rect 34"/>
          <p:cNvSpPr/>
          <p:nvPr/>
        </p:nvSpPr>
        <p:spPr>
          <a:xfrm>
            <a:off x="2448000" y="2970000"/>
            <a:ext cx="8172000" cy="251999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Box 36"/>
          <p:cNvSpPr txBox="1"/>
          <p:nvPr/>
        </p:nvSpPr>
        <p:spPr>
          <a:xfrm>
            <a:off x="2592000" y="2998800"/>
            <a:ext cx="79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Flask RESTful API</a:t>
            </a:r>
          </a:p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调度算法模块(GA) + 数据分析模块 + API路由层</a:t>
            </a:r>
          </a:p>
        </p:txBody>
      </p:sp>
      <p:sp>
        <p:nvSpPr>
          <p:cNvPr id="37" name="Rect 38"/>
          <p:cNvSpPr/>
          <p:nvPr/>
        </p:nvSpPr>
        <p:spPr>
          <a:xfrm>
            <a:off x="540000" y="3276000"/>
            <a:ext cx="1800000" cy="25199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Box 40"/>
          <p:cNvSpPr txBox="1"/>
          <p:nvPr/>
        </p:nvSpPr>
        <p:spPr>
          <a:xfrm>
            <a:off x="540000" y="3312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400" b="1" dirty="0">
                <a:solidFill>
                  <a:srgbClr val="FFFFF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41" name="Rect 42"/>
          <p:cNvSpPr/>
          <p:nvPr/>
        </p:nvSpPr>
        <p:spPr>
          <a:xfrm>
            <a:off x="2448000" y="3276000"/>
            <a:ext cx="8172000" cy="251999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Box 44"/>
          <p:cNvSpPr txBox="1"/>
          <p:nvPr/>
        </p:nvSpPr>
        <p:spPr>
          <a:xfrm>
            <a:off x="2592000" y="3304800"/>
            <a:ext cx="792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SQLite 数据库（4张表）</a:t>
            </a:r>
          </a:p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+ JSON实例数据文件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03  数据资源构建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数据集来源</a:t>
            </a:r>
          </a:p>
        </p:txBody>
      </p:sp>
      <p:cxnSp>
        <p:nvCxnSpPr>
          <p:cNvPr id="17" name="Line 18"/>
          <p:cNvCxnSpPr/>
          <p:nvPr/>
        </p:nvCxnSpPr>
        <p:spPr>
          <a:xfrm>
            <a:off x="540000" y="1080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19" name="TextBox 20"/>
          <p:cNvSpPr txBox="1"/>
          <p:nvPr/>
        </p:nvSpPr>
        <p:spPr>
          <a:xfrm>
            <a:off x="540000" y="11880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名称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1872000" y="11880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FJSP-F benchmark（含工装约束）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540000" y="14112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发布机构</a:t>
            </a:r>
          </a:p>
        </p:txBody>
      </p:sp>
      <p:sp>
        <p:nvSpPr>
          <p:cNvPr id="25" name="TextBox 26"/>
          <p:cNvSpPr txBox="1"/>
          <p:nvPr/>
        </p:nvSpPr>
        <p:spPr>
          <a:xfrm>
            <a:off x="1872000" y="14112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华中科技大学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540000" y="16344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来源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1872000" y="16344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Zenodo: 11526695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540000" y="18576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实例数量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1872000" y="18576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20个（FJSP-F1 ~ FJSP-F20）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540000" y="20808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规模范围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1872000" y="20808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3作业×2机器 至 20作业×10机器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540000" y="23040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原始格式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1872000" y="23040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.mat（MATLAB格式）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540000" y="2527200"/>
            <a:ext cx="12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64748B"/>
                </a:solidFill>
                <a:latin typeface="微软雅黑"/>
                <a:ea typeface="微软雅黑"/>
              </a:rPr>
              <a:t>预处理格式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1872000" y="2527200"/>
            <a:ext cx="34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.json（结构化JSON）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576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纯Python预处理流程</a:t>
            </a:r>
          </a:p>
        </p:txBody>
      </p:sp>
      <p:cxnSp>
        <p:nvCxnSpPr>
          <p:cNvPr id="49" name="Line 50"/>
          <p:cNvCxnSpPr/>
          <p:nvPr/>
        </p:nvCxnSpPr>
        <p:spPr>
          <a:xfrm>
            <a:off x="5760000" y="1080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51" name="Rect 52"/>
          <p:cNvSpPr/>
          <p:nvPr/>
        </p:nvSpPr>
        <p:spPr>
          <a:xfrm>
            <a:off x="5760000" y="1188000"/>
            <a:ext cx="288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extBox 54"/>
          <p:cNvSpPr txBox="1"/>
          <p:nvPr/>
        </p:nvSpPr>
        <p:spPr>
          <a:xfrm>
            <a:off x="5760000" y="1231200"/>
            <a:ext cx="2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5" name="TextBox 56"/>
          <p:cNvSpPr txBox="1"/>
          <p:nvPr/>
        </p:nvSpPr>
        <p:spPr>
          <a:xfrm>
            <a:off x="6192000" y="1188000"/>
            <a:ext cx="43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解析</a:t>
            </a:r>
          </a:p>
        </p:txBody>
      </p:sp>
      <p:sp>
        <p:nvSpPr>
          <p:cNvPr id="57" name="TextBox 58"/>
          <p:cNvSpPr txBox="1"/>
          <p:nvPr/>
        </p:nvSpPr>
        <p:spPr>
          <a:xfrm>
            <a:off x="6192000" y="1350000"/>
            <a:ext cx="450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纯Python .mat解析器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(仅用struct+zlib，不依赖numpy/scipy)</a:t>
            </a:r>
          </a:p>
        </p:txBody>
      </p:sp>
      <p:sp>
        <p:nvSpPr>
          <p:cNvPr id="59" name="Rect 60"/>
          <p:cNvSpPr/>
          <p:nvPr/>
        </p:nvSpPr>
        <p:spPr>
          <a:xfrm>
            <a:off x="5760000" y="1638000"/>
            <a:ext cx="288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2"/>
          <p:cNvSpPr txBox="1"/>
          <p:nvPr/>
        </p:nvSpPr>
        <p:spPr>
          <a:xfrm>
            <a:off x="5760000" y="1681200"/>
            <a:ext cx="2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3" name="TextBox 64"/>
          <p:cNvSpPr txBox="1"/>
          <p:nvPr/>
        </p:nvSpPr>
        <p:spPr>
          <a:xfrm>
            <a:off x="6192000" y="1638000"/>
            <a:ext cx="43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提取</a:t>
            </a:r>
          </a:p>
        </p:txBody>
      </p:sp>
      <p:sp>
        <p:nvSpPr>
          <p:cNvPr id="65" name="TextBox 66"/>
          <p:cNvSpPr txBox="1"/>
          <p:nvPr/>
        </p:nvSpPr>
        <p:spPr>
          <a:xfrm>
            <a:off x="6192000" y="1800000"/>
            <a:ext cx="450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提取作业/机器/工装/工序/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加工时间/交货期等信息</a:t>
            </a:r>
          </a:p>
        </p:txBody>
      </p:sp>
      <p:sp>
        <p:nvSpPr>
          <p:cNvPr id="67" name="Rect 68"/>
          <p:cNvSpPr/>
          <p:nvPr/>
        </p:nvSpPr>
        <p:spPr>
          <a:xfrm>
            <a:off x="5760000" y="2088000"/>
            <a:ext cx="288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extBox 70"/>
          <p:cNvSpPr txBox="1"/>
          <p:nvPr/>
        </p:nvSpPr>
        <p:spPr>
          <a:xfrm>
            <a:off x="5760000" y="2131200"/>
            <a:ext cx="2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1" name="TextBox 72"/>
          <p:cNvSpPr txBox="1"/>
          <p:nvPr/>
        </p:nvSpPr>
        <p:spPr>
          <a:xfrm>
            <a:off x="6192000" y="2088000"/>
            <a:ext cx="43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清洗补全</a:t>
            </a:r>
          </a:p>
        </p:txBody>
      </p:sp>
      <p:sp>
        <p:nvSpPr>
          <p:cNvPr id="73" name="TextBox 74"/>
          <p:cNvSpPr txBox="1"/>
          <p:nvPr/>
        </p:nvSpPr>
        <p:spPr>
          <a:xfrm>
            <a:off x="6192000" y="2250000"/>
            <a:ext cx="450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解析不完整字段按FJSP特征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自动补全合理值，固定种子可复现</a:t>
            </a:r>
          </a:p>
        </p:txBody>
      </p:sp>
      <p:sp>
        <p:nvSpPr>
          <p:cNvPr id="75" name="Rect 76"/>
          <p:cNvSpPr/>
          <p:nvPr/>
        </p:nvSpPr>
        <p:spPr>
          <a:xfrm>
            <a:off x="5760000" y="2538000"/>
            <a:ext cx="288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extBox 78"/>
          <p:cNvSpPr txBox="1"/>
          <p:nvPr/>
        </p:nvSpPr>
        <p:spPr>
          <a:xfrm>
            <a:off x="5760000" y="2581200"/>
            <a:ext cx="2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9" name="TextBox 80"/>
          <p:cNvSpPr txBox="1"/>
          <p:nvPr/>
        </p:nvSpPr>
        <p:spPr>
          <a:xfrm>
            <a:off x="6192000" y="2538000"/>
            <a:ext cx="43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结构化</a:t>
            </a:r>
          </a:p>
        </p:txBody>
      </p:sp>
      <p:sp>
        <p:nvSpPr>
          <p:cNvPr id="81" name="TextBox 82"/>
          <p:cNvSpPr txBox="1"/>
          <p:nvPr/>
        </p:nvSpPr>
        <p:spPr>
          <a:xfrm>
            <a:off x="6192000" y="2700000"/>
            <a:ext cx="450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转换为统一JSON格式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(scale/jobs/machines/fixtures/metadata)</a:t>
            </a:r>
          </a:p>
        </p:txBody>
      </p:sp>
      <p:sp>
        <p:nvSpPr>
          <p:cNvPr id="83" name="Rect 84"/>
          <p:cNvSpPr/>
          <p:nvPr/>
        </p:nvSpPr>
        <p:spPr>
          <a:xfrm>
            <a:off x="5760000" y="2988000"/>
            <a:ext cx="288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TextBox 86"/>
          <p:cNvSpPr txBox="1"/>
          <p:nvPr/>
        </p:nvSpPr>
        <p:spPr>
          <a:xfrm>
            <a:off x="5760000" y="3031200"/>
            <a:ext cx="2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7" name="TextBox 88"/>
          <p:cNvSpPr txBox="1"/>
          <p:nvPr/>
        </p:nvSpPr>
        <p:spPr>
          <a:xfrm>
            <a:off x="6192000" y="2988000"/>
            <a:ext cx="43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验证</a:t>
            </a:r>
          </a:p>
        </p:txBody>
      </p:sp>
      <p:sp>
        <p:nvSpPr>
          <p:cNvPr id="89" name="TextBox 90"/>
          <p:cNvSpPr txBox="1"/>
          <p:nvPr/>
        </p:nvSpPr>
        <p:spPr>
          <a:xfrm>
            <a:off x="6192000" y="3150000"/>
            <a:ext cx="450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20个实例全部验证通过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(0空数据，规模合理)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04  核心算法设计 — 遗传算法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两段式染色体编码</a:t>
            </a:r>
          </a:p>
        </p:txBody>
      </p:sp>
      <p:cxnSp>
        <p:nvCxnSpPr>
          <p:cNvPr id="17" name="Line 18"/>
          <p:cNvCxnSpPr/>
          <p:nvPr/>
        </p:nvCxnSpPr>
        <p:spPr>
          <a:xfrm>
            <a:off x="540000" y="1080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19" name="Rect 20"/>
          <p:cNvSpPr/>
          <p:nvPr/>
        </p:nvSpPr>
        <p:spPr>
          <a:xfrm>
            <a:off x="540000" y="1188000"/>
            <a:ext cx="4860000" cy="64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2"/>
          <p:cNvSpPr txBox="1"/>
          <p:nvPr/>
        </p:nvSpPr>
        <p:spPr>
          <a:xfrm>
            <a:off x="648000" y="12600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OS段（操作序列）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648000" y="1440000"/>
            <a:ext cx="468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每个作业号出现n_j次，第k次出现表示作业j的第k道工序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示例：[1,2,1,3,2,3,1,2,3]（3作业×3工序）</a:t>
            </a:r>
          </a:p>
        </p:txBody>
      </p:sp>
      <p:sp>
        <p:nvSpPr>
          <p:cNvPr id="25" name="Rect 26"/>
          <p:cNvSpPr/>
          <p:nvPr/>
        </p:nvSpPr>
        <p:spPr>
          <a:xfrm>
            <a:off x="540000" y="1908000"/>
            <a:ext cx="4860000" cy="64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 28"/>
          <p:cNvSpPr txBox="1"/>
          <p:nvPr/>
        </p:nvSpPr>
        <p:spPr>
          <a:xfrm>
            <a:off x="648000" y="19800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MA段（机器分配）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648000" y="2160000"/>
            <a:ext cx="468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每个元素为对应工序分配的机器编号，必须在可选机器集合中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示例：[1,2,1,2,1,2,1,2,1]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576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遗传操作与解码</a:t>
            </a:r>
          </a:p>
        </p:txBody>
      </p:sp>
      <p:cxnSp>
        <p:nvCxnSpPr>
          <p:cNvPr id="33" name="Line 34"/>
          <p:cNvCxnSpPr/>
          <p:nvPr/>
        </p:nvCxnSpPr>
        <p:spPr>
          <a:xfrm>
            <a:off x="5760000" y="1080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35" name="TextBox 36"/>
          <p:cNvSpPr txBox="1"/>
          <p:nvPr/>
        </p:nvSpPr>
        <p:spPr>
          <a:xfrm>
            <a:off x="5760000" y="1188000"/>
            <a:ext cx="10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▸ 选择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6912000" y="1188000"/>
            <a:ext cx="37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锦标赛选择（k=3），从种群随机选3个取最优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5760000" y="1483200"/>
            <a:ext cx="10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▸ 交叉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6912000" y="1483200"/>
            <a:ext cx="37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OS段POX交叉（保序，子代始终合法）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MA段均匀交叉（50%概率继承）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5760000" y="1778400"/>
            <a:ext cx="10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▸ 变异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6912000" y="1778400"/>
            <a:ext cx="37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OS段交换变异（Pm=0.1）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MA段随机重选变异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5760000" y="2073600"/>
            <a:ext cx="10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▸ 精英保留</a:t>
            </a:r>
          </a:p>
        </p:txBody>
      </p:sp>
      <p:sp>
        <p:nvSpPr>
          <p:cNvPr id="49" name="TextBox 50"/>
          <p:cNvSpPr txBox="1"/>
          <p:nvPr/>
        </p:nvSpPr>
        <p:spPr>
          <a:xfrm>
            <a:off x="6912000" y="2073600"/>
            <a:ext cx="37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每代保留最优个体直接进入下一代</a:t>
            </a:r>
          </a:p>
        </p:txBody>
      </p:sp>
      <p:sp>
        <p:nvSpPr>
          <p:cNvPr id="51" name="TextBox 52"/>
          <p:cNvSpPr txBox="1"/>
          <p:nvPr/>
        </p:nvSpPr>
        <p:spPr>
          <a:xfrm>
            <a:off x="5760000" y="2368800"/>
            <a:ext cx="10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300" b="1" dirty="0">
                <a:solidFill>
                  <a:srgbClr val="C9A66B"/>
                </a:solidFill>
                <a:latin typeface="微软雅黑"/>
                <a:ea typeface="微软雅黑"/>
              </a:rPr>
              <a:t>▸ 解码</a:t>
            </a:r>
          </a:p>
        </p:txBody>
      </p:sp>
      <p:sp>
        <p:nvSpPr>
          <p:cNvPr id="53" name="TextBox 54"/>
          <p:cNvSpPr txBox="1"/>
          <p:nvPr/>
        </p:nvSpPr>
        <p:spPr>
          <a:xfrm>
            <a:off x="6912000" y="2368800"/>
            <a:ext cx="3780000" cy="28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主动调度解码，同时跟踪机器/作业/工装可用时间</a:t>
            </a:r>
          </a:p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取max作为开始时间，确保工装约束</a:t>
            </a:r>
          </a:p>
        </p:txBody>
      </p:sp>
      <p:sp>
        <p:nvSpPr>
          <p:cNvPr id="55" name="Rect 56"/>
          <p:cNvSpPr/>
          <p:nvPr/>
        </p:nvSpPr>
        <p:spPr>
          <a:xfrm>
            <a:off x="540000" y="2700000"/>
            <a:ext cx="10152000" cy="432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Box 58"/>
          <p:cNvSpPr txBox="1"/>
          <p:nvPr/>
        </p:nvSpPr>
        <p:spPr>
          <a:xfrm>
            <a:off x="720000" y="2754000"/>
            <a:ext cx="97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参数设置</a:t>
            </a:r>
          </a:p>
        </p:txBody>
      </p:sp>
      <p:sp>
        <p:nvSpPr>
          <p:cNvPr id="59" name="TextBox 60"/>
          <p:cNvSpPr txBox="1"/>
          <p:nvPr/>
        </p:nvSpPr>
        <p:spPr>
          <a:xfrm>
            <a:off x="720000" y="2934000"/>
            <a:ext cx="972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FFFFFF"/>
                </a:solidFill>
                <a:latin typeface="微软雅黑"/>
                <a:ea typeface="微软雅黑"/>
              </a:rPr>
              <a:t>pop_size=100  |  max_gen=200  |  crossover_rate=0.8  |  mutation_rate=0.1  |  tournament_size=3  |  elite_count=1  |  seed=42（可复现）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04  系统实现</a:t>
            </a:r>
          </a:p>
        </p:txBody>
      </p:sp>
      <p:sp>
        <p:nvSpPr>
          <p:cNvPr id="15" name="Rect 16"/>
          <p:cNvSpPr/>
          <p:nvPr/>
        </p:nvSpPr>
        <p:spPr>
          <a:xfrm>
            <a:off x="540000" y="827999"/>
            <a:ext cx="3240000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8"/>
          <p:cNvSpPr txBox="1"/>
          <p:nvPr/>
        </p:nvSpPr>
        <p:spPr>
          <a:xfrm>
            <a:off x="540000" y="882000"/>
            <a:ext cx="32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后端服务</a:t>
            </a:r>
          </a:p>
        </p:txBody>
      </p:sp>
      <p:sp>
        <p:nvSpPr>
          <p:cNvPr id="19" name="Rect 20"/>
          <p:cNvSpPr/>
          <p:nvPr/>
        </p:nvSpPr>
        <p:spPr>
          <a:xfrm>
            <a:off x="540000" y="1116000"/>
            <a:ext cx="3240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2"/>
          <p:cNvSpPr txBox="1"/>
          <p:nvPr/>
        </p:nvSpPr>
        <p:spPr>
          <a:xfrm>
            <a:off x="648000" y="12240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465667"/>
                </a:solidFill>
                <a:latin typeface="微软雅黑"/>
                <a:ea typeface="微软雅黑"/>
              </a:rPr>
              <a:t>• Flask 3.x 纯Python框架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648000" y="14832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20+ RESTful API接口</a:t>
            </a:r>
          </a:p>
        </p:txBody>
      </p:sp>
      <p:sp>
        <p:nvSpPr>
          <p:cNvPr id="25" name="TextBox 26"/>
          <p:cNvSpPr txBox="1"/>
          <p:nvPr/>
        </p:nvSpPr>
        <p:spPr>
          <a:xfrm>
            <a:off x="648000" y="17424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健康检查/数据集管理/调度求解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648000" y="20016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数据分析/历史记录/系统日志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648000" y="22608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flask-cors 跨域处理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648000" y="25200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参数校验 + 统一错误处理</a:t>
            </a:r>
          </a:p>
        </p:txBody>
      </p:sp>
      <p:sp>
        <p:nvSpPr>
          <p:cNvPr id="33" name="Rect 34"/>
          <p:cNvSpPr/>
          <p:nvPr/>
        </p:nvSpPr>
        <p:spPr>
          <a:xfrm>
            <a:off x="4031999" y="827999"/>
            <a:ext cx="3240000" cy="28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Box 36"/>
          <p:cNvSpPr txBox="1"/>
          <p:nvPr/>
        </p:nvSpPr>
        <p:spPr>
          <a:xfrm>
            <a:off x="4031999" y="882000"/>
            <a:ext cx="32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37" name="Rect 38"/>
          <p:cNvSpPr/>
          <p:nvPr/>
        </p:nvSpPr>
        <p:spPr>
          <a:xfrm>
            <a:off x="4031999" y="1116000"/>
            <a:ext cx="3240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Box 40"/>
          <p:cNvSpPr txBox="1"/>
          <p:nvPr/>
        </p:nvSpPr>
        <p:spPr>
          <a:xfrm>
            <a:off x="4139999" y="12240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465667"/>
                </a:solidFill>
                <a:latin typeface="微软雅黑"/>
                <a:ea typeface="微软雅黑"/>
              </a:rPr>
              <a:t>• SQLite 3（Python内置）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4139999" y="14832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4张表设计：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4211999" y="17424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schedule_tasks 调度任务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4211999" y="20016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schedule_results 调度结果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4211999" y="22608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dataset_cache 数据集缓存</a:t>
            </a:r>
          </a:p>
        </p:txBody>
      </p:sp>
      <p:sp>
        <p:nvSpPr>
          <p:cNvPr id="49" name="TextBox 50"/>
          <p:cNvSpPr txBox="1"/>
          <p:nvPr/>
        </p:nvSpPr>
        <p:spPr>
          <a:xfrm>
            <a:off x="4211999" y="25200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system_logs 系统日志</a:t>
            </a:r>
          </a:p>
        </p:txBody>
      </p:sp>
      <p:sp>
        <p:nvSpPr>
          <p:cNvPr id="51" name="TextBox 52"/>
          <p:cNvSpPr txBox="1"/>
          <p:nvPr/>
        </p:nvSpPr>
        <p:spPr>
          <a:xfrm>
            <a:off x="4139999" y="27792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JSON字段存储复杂调度数据</a:t>
            </a:r>
          </a:p>
        </p:txBody>
      </p:sp>
      <p:sp>
        <p:nvSpPr>
          <p:cNvPr id="53" name="Rect 54"/>
          <p:cNvSpPr/>
          <p:nvPr/>
        </p:nvSpPr>
        <p:spPr>
          <a:xfrm>
            <a:off x="7523998" y="827999"/>
            <a:ext cx="3240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Box 56"/>
          <p:cNvSpPr txBox="1"/>
          <p:nvPr/>
        </p:nvSpPr>
        <p:spPr>
          <a:xfrm>
            <a:off x="7523998" y="882000"/>
            <a:ext cx="32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前端界面</a:t>
            </a:r>
          </a:p>
        </p:txBody>
      </p:sp>
      <p:sp>
        <p:nvSpPr>
          <p:cNvPr id="57" name="Rect 58"/>
          <p:cNvSpPr/>
          <p:nvPr/>
        </p:nvSpPr>
        <p:spPr>
          <a:xfrm>
            <a:off x="7523998" y="1116000"/>
            <a:ext cx="3240000" cy="2088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extBox 60"/>
          <p:cNvSpPr txBox="1"/>
          <p:nvPr/>
        </p:nvSpPr>
        <p:spPr>
          <a:xfrm>
            <a:off x="7631998" y="12240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465667"/>
                </a:solidFill>
                <a:latin typeface="微软雅黑"/>
                <a:ea typeface="微软雅黑"/>
              </a:rPr>
              <a:t>• Vue 3 Composition API (CDN)</a:t>
            </a:r>
          </a:p>
        </p:txBody>
      </p:sp>
      <p:sp>
        <p:nvSpPr>
          <p:cNvPr id="61" name="TextBox 62"/>
          <p:cNvSpPr txBox="1"/>
          <p:nvPr/>
        </p:nvSpPr>
        <p:spPr>
          <a:xfrm>
            <a:off x="7631998" y="14832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ECharts 5 可视化库 (CDN)</a:t>
            </a:r>
          </a:p>
        </p:txBody>
      </p:sp>
      <p:sp>
        <p:nvSpPr>
          <p:cNvPr id="63" name="TextBox 64"/>
          <p:cNvSpPr txBox="1"/>
          <p:nvPr/>
        </p:nvSpPr>
        <p:spPr>
          <a:xfrm>
            <a:off x="7631998" y="17424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7个功能页面：</a:t>
            </a:r>
          </a:p>
        </p:txBody>
      </p:sp>
      <p:sp>
        <p:nvSpPr>
          <p:cNvPr id="65" name="TextBox 66"/>
          <p:cNvSpPr txBox="1"/>
          <p:nvPr/>
        </p:nvSpPr>
        <p:spPr>
          <a:xfrm>
            <a:off x="7703998" y="20016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系统概览/数据集管理</a:t>
            </a:r>
          </a:p>
        </p:txBody>
      </p:sp>
      <p:sp>
        <p:nvSpPr>
          <p:cNvPr id="67" name="TextBox 68"/>
          <p:cNvSpPr txBox="1"/>
          <p:nvPr/>
        </p:nvSpPr>
        <p:spPr>
          <a:xfrm>
            <a:off x="7703998" y="22608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智能调度/数据分析</a:t>
            </a:r>
          </a:p>
        </p:txBody>
      </p:sp>
      <p:sp>
        <p:nvSpPr>
          <p:cNvPr id="69" name="TextBox 70"/>
          <p:cNvSpPr txBox="1"/>
          <p:nvPr/>
        </p:nvSpPr>
        <p:spPr>
          <a:xfrm>
            <a:off x="7703998" y="2520000"/>
            <a:ext cx="2988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数字孪生/调度历史</a:t>
            </a:r>
          </a:p>
        </p:txBody>
      </p:sp>
      <p:sp>
        <p:nvSpPr>
          <p:cNvPr id="71" name="TextBox 72"/>
          <p:cNvSpPr txBox="1"/>
          <p:nvPr/>
        </p:nvSpPr>
        <p:spPr>
          <a:xfrm>
            <a:off x="7631998" y="2779200"/>
            <a:ext cx="306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甘特图/收敛曲线/数字孪生动画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系统功能演示</a:t>
            </a:r>
          </a:p>
        </p:txBody>
      </p:sp>
      <p:sp>
        <p:nvSpPr>
          <p:cNvPr id="15" name="Rect 16"/>
          <p:cNvSpPr/>
          <p:nvPr/>
        </p:nvSpPr>
        <p:spPr>
          <a:xfrm>
            <a:off x="540000" y="827999"/>
            <a:ext cx="3240000" cy="28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8"/>
          <p:cNvSpPr txBox="1"/>
          <p:nvPr/>
        </p:nvSpPr>
        <p:spPr>
          <a:xfrm>
            <a:off x="540000" y="882000"/>
            <a:ext cx="32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智能调度</a:t>
            </a:r>
          </a:p>
        </p:txBody>
      </p:sp>
      <p:sp>
        <p:nvSpPr>
          <p:cNvPr id="19" name="Rect 20"/>
          <p:cNvSpPr/>
          <p:nvPr/>
        </p:nvSpPr>
        <p:spPr>
          <a:xfrm>
            <a:off x="540000" y="1116000"/>
            <a:ext cx="3240000" cy="1980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2"/>
          <p:cNvSpPr txBox="1"/>
          <p:nvPr/>
        </p:nvSpPr>
        <p:spPr>
          <a:xfrm>
            <a:off x="648000" y="12240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实例选择 + 参数配置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648000" y="14688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遗传算法自动求解</a:t>
            </a:r>
          </a:p>
        </p:txBody>
      </p:sp>
      <p:sp>
        <p:nvSpPr>
          <p:cNvPr id="25" name="TextBox 26"/>
          <p:cNvSpPr txBox="1"/>
          <p:nvPr/>
        </p:nvSpPr>
        <p:spPr>
          <a:xfrm>
            <a:off x="648000" y="17136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甘特图展示调度方案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648000" y="19584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收敛曲线显示优化过程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648000" y="22032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机器利用率统计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648000" y="24480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自然语言决策解释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648000" y="26928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FJSP-F1: Makespan=28</a:t>
            </a:r>
          </a:p>
        </p:txBody>
      </p:sp>
      <p:sp>
        <p:nvSpPr>
          <p:cNvPr id="35" name="Rect 36"/>
          <p:cNvSpPr/>
          <p:nvPr/>
        </p:nvSpPr>
        <p:spPr>
          <a:xfrm>
            <a:off x="4031999" y="827999"/>
            <a:ext cx="3240000" cy="28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Box 38"/>
          <p:cNvSpPr txBox="1"/>
          <p:nvPr/>
        </p:nvSpPr>
        <p:spPr>
          <a:xfrm>
            <a:off x="4031999" y="882000"/>
            <a:ext cx="32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数字孪生</a:t>
            </a:r>
          </a:p>
        </p:txBody>
      </p:sp>
      <p:sp>
        <p:nvSpPr>
          <p:cNvPr id="39" name="Rect 40"/>
          <p:cNvSpPr/>
          <p:nvPr/>
        </p:nvSpPr>
        <p:spPr>
          <a:xfrm>
            <a:off x="4031999" y="1116000"/>
            <a:ext cx="3240000" cy="1980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Box 42"/>
          <p:cNvSpPr txBox="1"/>
          <p:nvPr/>
        </p:nvSpPr>
        <p:spPr>
          <a:xfrm>
            <a:off x="4139999" y="12240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车间布局可视化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4139999" y="14688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机器状态实时映射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4247999" y="1713600"/>
            <a:ext cx="2951999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idle(灰)/running(绿)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4139999" y="19584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作业进度跟踪</a:t>
            </a:r>
          </a:p>
        </p:txBody>
      </p:sp>
      <p:sp>
        <p:nvSpPr>
          <p:cNvPr id="49" name="TextBox 50"/>
          <p:cNvSpPr txBox="1"/>
          <p:nvPr/>
        </p:nvSpPr>
        <p:spPr>
          <a:xfrm>
            <a:off x="4247999" y="2203200"/>
            <a:ext cx="2951999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64748B"/>
                </a:solidFill>
                <a:latin typeface="微软雅黑"/>
                <a:ea typeface="微软雅黑"/>
              </a:rPr>
              <a:t>waiting/running/done</a:t>
            </a:r>
          </a:p>
        </p:txBody>
      </p:sp>
      <p:sp>
        <p:nvSpPr>
          <p:cNvPr id="51" name="TextBox 52"/>
          <p:cNvSpPr txBox="1"/>
          <p:nvPr/>
        </p:nvSpPr>
        <p:spPr>
          <a:xfrm>
            <a:off x="4139999" y="24480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时间轴播放/暂停控制</a:t>
            </a:r>
          </a:p>
        </p:txBody>
      </p:sp>
      <p:sp>
        <p:nvSpPr>
          <p:cNvPr id="53" name="TextBox 54"/>
          <p:cNvSpPr txBox="1"/>
          <p:nvPr/>
        </p:nvSpPr>
        <p:spPr>
          <a:xfrm>
            <a:off x="4139999" y="26928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抽象调度方案直观可见</a:t>
            </a:r>
          </a:p>
        </p:txBody>
      </p:sp>
      <p:sp>
        <p:nvSpPr>
          <p:cNvPr id="55" name="Rect 56"/>
          <p:cNvSpPr/>
          <p:nvPr/>
        </p:nvSpPr>
        <p:spPr>
          <a:xfrm>
            <a:off x="7523998" y="827999"/>
            <a:ext cx="3240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Box 58"/>
          <p:cNvSpPr txBox="1"/>
          <p:nvPr/>
        </p:nvSpPr>
        <p:spPr>
          <a:xfrm>
            <a:off x="7523998" y="882000"/>
            <a:ext cx="32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800" b="1" dirty="0">
                <a:solidFill>
                  <a:srgbClr val="FFFFFF"/>
                </a:solidFill>
                <a:latin typeface="微软雅黑"/>
                <a:ea typeface="微软雅黑"/>
              </a:rPr>
              <a:t>数据分析</a:t>
            </a:r>
          </a:p>
        </p:txBody>
      </p:sp>
      <p:sp>
        <p:nvSpPr>
          <p:cNvPr id="59" name="Rect 60"/>
          <p:cNvSpPr/>
          <p:nvPr/>
        </p:nvSpPr>
        <p:spPr>
          <a:xfrm>
            <a:off x="7523998" y="1116000"/>
            <a:ext cx="3240000" cy="1980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2"/>
          <p:cNvSpPr txBox="1"/>
          <p:nvPr/>
        </p:nvSpPr>
        <p:spPr>
          <a:xfrm>
            <a:off x="7631998" y="12240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实例统计信息</a:t>
            </a:r>
          </a:p>
        </p:txBody>
      </p:sp>
      <p:sp>
        <p:nvSpPr>
          <p:cNvPr id="63" name="TextBox 64"/>
          <p:cNvSpPr txBox="1"/>
          <p:nvPr/>
        </p:nvSpPr>
        <p:spPr>
          <a:xfrm>
            <a:off x="7631998" y="14688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加工时间分布</a:t>
            </a:r>
          </a:p>
        </p:txBody>
      </p:sp>
      <p:sp>
        <p:nvSpPr>
          <p:cNvPr id="65" name="TextBox 66"/>
          <p:cNvSpPr txBox="1"/>
          <p:nvPr/>
        </p:nvSpPr>
        <p:spPr>
          <a:xfrm>
            <a:off x="7631998" y="17136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机器负荷分析</a:t>
            </a:r>
          </a:p>
        </p:txBody>
      </p:sp>
      <p:sp>
        <p:nvSpPr>
          <p:cNvPr id="67" name="TextBox 68"/>
          <p:cNvSpPr txBox="1"/>
          <p:nvPr/>
        </p:nvSpPr>
        <p:spPr>
          <a:xfrm>
            <a:off x="7631998" y="19584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瓶颈机器/工装识别</a:t>
            </a:r>
          </a:p>
        </p:txBody>
      </p:sp>
      <p:sp>
        <p:nvSpPr>
          <p:cNvPr id="69" name="TextBox 70"/>
          <p:cNvSpPr txBox="1"/>
          <p:nvPr/>
        </p:nvSpPr>
        <p:spPr>
          <a:xfrm>
            <a:off x="7631998" y="22032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多实例横向对比</a:t>
            </a:r>
          </a:p>
        </p:txBody>
      </p:sp>
      <p:sp>
        <p:nvSpPr>
          <p:cNvPr id="71" name="TextBox 72"/>
          <p:cNvSpPr txBox="1"/>
          <p:nvPr/>
        </p:nvSpPr>
        <p:spPr>
          <a:xfrm>
            <a:off x="7631998" y="24480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规模分布图表</a:t>
            </a:r>
          </a:p>
        </p:txBody>
      </p:sp>
      <p:sp>
        <p:nvSpPr>
          <p:cNvPr id="73" name="TextBox 74"/>
          <p:cNvSpPr txBox="1"/>
          <p:nvPr/>
        </p:nvSpPr>
        <p:spPr>
          <a:xfrm>
            <a:off x="7631998" y="2692800"/>
            <a:ext cx="306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✓ 数据驱动调度决策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05  测试与验证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自动化测试（4套件28项全通过）</a:t>
            </a:r>
          </a:p>
        </p:txBody>
      </p:sp>
      <p:cxnSp>
        <p:nvCxnSpPr>
          <p:cNvPr id="17" name="Line 18"/>
          <p:cNvCxnSpPr/>
          <p:nvPr/>
        </p:nvCxnSpPr>
        <p:spPr>
          <a:xfrm>
            <a:off x="540000" y="1080000"/>
            <a:ext cx="162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graphicFrame>
        <p:nvGraphicFramePr>
          <p:cNvPr id="19" name="Table 20"/>
          <p:cNvGraphicFramePr/>
          <p:nvPr/>
        </p:nvGraphicFramePr>
        <p:xfrm>
          <a:off x="540000" y="1188000"/>
          <a:ext cx="504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900000"/>
                <a:gridCol w="2880000"/>
              </a:tblGrid>
              <a:tr h="2520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测试套件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C9A66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测试项数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C9A66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覆盖内容</a:t>
                      </a:r>
                    </a:p>
                  </a:txBody>
                  <a:tcPr>
                    <a:solidFill>
                      <a:srgbClr val="0D1B2A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C9A66B"/>
                      </a:solidFill>
                    </a:lnB>
                  </a:tcPr>
                </a:tc>
              </a:tr>
              <a:tr h="2520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5项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初始化/染色体生成/解码/完整求解/机器利用率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520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数据库模块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5项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初始化/任务管理/结果管理/数据集缓存/系统日志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520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数据分析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6项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初始化/实例统计/瓶颈识别/概览/对比/结果分析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  <a:tr h="252000"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API接口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12项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enter"/>
                      <a:r>
                        <a:rPr lang="zh-CN" sz="1000" dirty="0">
                          <a:solidFill>
                            <a:srgbClr val="465667"/>
                          </a:solidFill>
                          <a:latin typeface="微软雅黑"/>
                          <a:ea typeface="微软雅黑"/>
                        </a:rPr>
                        <a:t>健康检查/数据集/调度/分析/历史等全接口</a:t>
                      </a:r>
                    </a:p>
                  </a:txBody>
                  <a:tcPr>
                    <a:solidFill>
                      <a:srgbClr val="EEF0F2"/>
                    </a:solidFill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2"/>
          <p:cNvSpPr txBox="1"/>
          <p:nvPr/>
        </p:nvSpPr>
        <p:spPr>
          <a:xfrm>
            <a:off x="612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调度结果验证</a:t>
            </a:r>
          </a:p>
        </p:txBody>
      </p:sp>
      <p:cxnSp>
        <p:nvCxnSpPr>
          <p:cNvPr id="23" name="Line 24"/>
          <p:cNvCxnSpPr/>
          <p:nvPr/>
        </p:nvCxnSpPr>
        <p:spPr>
          <a:xfrm>
            <a:off x="6120000" y="1080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25" name="Rect 26"/>
          <p:cNvSpPr/>
          <p:nvPr/>
        </p:nvSpPr>
        <p:spPr>
          <a:xfrm>
            <a:off x="6120000" y="1188000"/>
            <a:ext cx="2340000" cy="10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 28"/>
          <p:cNvSpPr txBox="1"/>
          <p:nvPr/>
        </p:nvSpPr>
        <p:spPr>
          <a:xfrm>
            <a:off x="6120000" y="1296000"/>
            <a:ext cx="2340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4800" b="1" dirty="0">
                <a:solidFill>
                  <a:srgbClr val="C9A66B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6120000" y="1764000"/>
            <a:ext cx="23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200" b="0" dirty="0">
                <a:solidFill>
                  <a:srgbClr val="FFFFFF"/>
                </a:solidFill>
                <a:latin typeface="微软雅黑"/>
                <a:ea typeface="微软雅黑"/>
              </a:rPr>
              <a:t>FJSP-F1 Makespan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6120000" y="1944000"/>
            <a:ext cx="23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000" b="0" dirty="0">
                <a:solidFill>
                  <a:srgbClr val="64748B"/>
                </a:solidFill>
                <a:latin typeface="微软雅黑"/>
                <a:ea typeface="微软雅黑"/>
              </a:rPr>
              <a:t>(3作业×2机器×2工装)</a:t>
            </a:r>
          </a:p>
        </p:txBody>
      </p:sp>
      <p:sp>
        <p:nvSpPr>
          <p:cNvPr id="33" name="Rect 34"/>
          <p:cNvSpPr/>
          <p:nvPr/>
        </p:nvSpPr>
        <p:spPr>
          <a:xfrm>
            <a:off x="8640000" y="1188000"/>
            <a:ext cx="2340000" cy="108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Box 36"/>
          <p:cNvSpPr txBox="1"/>
          <p:nvPr/>
        </p:nvSpPr>
        <p:spPr>
          <a:xfrm>
            <a:off x="8640000" y="1296000"/>
            <a:ext cx="2340000" cy="43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4200" b="1" dirty="0">
                <a:solidFill>
                  <a:srgbClr val="FFFFFF"/>
                </a:solidFill>
                <a:latin typeface="微软雅黑"/>
                <a:ea typeface="微软雅黑"/>
              </a:rPr>
              <a:t>96.4%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8640000" y="1764000"/>
            <a:ext cx="23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200" b="0" dirty="0">
                <a:solidFill>
                  <a:srgbClr val="FFFFFF"/>
                </a:solidFill>
                <a:latin typeface="微软雅黑"/>
                <a:ea typeface="微软雅黑"/>
              </a:rPr>
              <a:t>机器利用率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8640000" y="1944000"/>
            <a:ext cx="234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1000" b="0" dirty="0">
                <a:solidFill>
                  <a:srgbClr val="E8DCC8"/>
                </a:solidFill>
                <a:latin typeface="微软雅黑"/>
                <a:ea typeface="微软雅黑"/>
              </a:rPr>
              <a:t>0.33秒求解</a:t>
            </a:r>
          </a:p>
        </p:txBody>
      </p:sp>
      <p:sp>
        <p:nvSpPr>
          <p:cNvPr id="41" name="Rect 42"/>
          <p:cNvSpPr/>
          <p:nvPr/>
        </p:nvSpPr>
        <p:spPr>
          <a:xfrm>
            <a:off x="540000" y="2592000"/>
            <a:ext cx="10440000" cy="5400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Box 44"/>
          <p:cNvSpPr txBox="1"/>
          <p:nvPr/>
        </p:nvSpPr>
        <p:spPr>
          <a:xfrm>
            <a:off x="720000" y="2664000"/>
            <a:ext cx="100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0D1B2A"/>
                </a:solidFill>
                <a:latin typeface="微软雅黑"/>
                <a:ea typeface="微软雅黑"/>
              </a:rPr>
              <a:t>端到端流程验证（8步全通过）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720000" y="2862000"/>
            <a:ext cx="10080000" cy="21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获取实例列表 → 查看详情 → 查看统计 → 识别瓶颈 → 执行调度 → 查看决策解释 → 查看历史 → 多实例对比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05  AI使用披露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所用工具与关键策略</a:t>
            </a:r>
          </a:p>
        </p:txBody>
      </p:sp>
      <p:cxnSp>
        <p:nvCxnSpPr>
          <p:cNvPr id="17" name="Line 18"/>
          <p:cNvCxnSpPr/>
          <p:nvPr/>
        </p:nvCxnSpPr>
        <p:spPr>
          <a:xfrm>
            <a:off x="540000" y="1080000"/>
            <a:ext cx="126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19" name="TextBox 20"/>
          <p:cNvSpPr txBox="1"/>
          <p:nvPr/>
        </p:nvSpPr>
        <p:spPr>
          <a:xfrm>
            <a:off x="540000" y="11880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工具：豆包AI助手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540000" y="1440000"/>
            <a:ext cx="4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提示词工程：任务拆解、约束说明、验收标准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540000" y="1656000"/>
            <a:ext cx="4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上下文工程：项目规则文件、先读代码再改</a:t>
            </a:r>
          </a:p>
        </p:txBody>
      </p:sp>
      <p:sp>
        <p:nvSpPr>
          <p:cNvPr id="25" name="TextBox 26"/>
          <p:cNvSpPr txBox="1"/>
          <p:nvPr/>
        </p:nvSpPr>
        <p:spPr>
          <a:xfrm>
            <a:off x="540000" y="1872000"/>
            <a:ext cx="4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规格驱动开发：需求→计划→分步实现→逐步验收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540000" y="2088000"/>
            <a:ext cx="4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自动化测试：4套件28项，核心模块全覆盖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540000" y="2304000"/>
            <a:ext cx="4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人工审查：关键算法逐行审查，确保逻辑正确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540000" y="2520000"/>
            <a:ext cx="4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• 调试接管：回滚、缩小改动、最小复现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576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AI出错案例及纠正（6例）</a:t>
            </a:r>
          </a:p>
        </p:txBody>
      </p:sp>
      <p:cxnSp>
        <p:nvCxnSpPr>
          <p:cNvPr id="35" name="Line 36"/>
          <p:cNvCxnSpPr/>
          <p:nvPr/>
        </p:nvCxnSpPr>
        <p:spPr>
          <a:xfrm>
            <a:off x="5760000" y="1080000"/>
            <a:ext cx="-360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37" name="Rect 38"/>
          <p:cNvSpPr/>
          <p:nvPr/>
        </p:nvSpPr>
        <p:spPr>
          <a:xfrm>
            <a:off x="5760000" y="1188000"/>
            <a:ext cx="36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Box 40"/>
          <p:cNvSpPr txBox="1"/>
          <p:nvPr/>
        </p:nvSpPr>
        <p:spPr>
          <a:xfrm>
            <a:off x="5903999" y="1188000"/>
            <a:ext cx="4680000" cy="14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原生DLL被阻止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5903999" y="13248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000" b="0" dirty="0">
                <a:solidFill>
                  <a:srgbClr val="465667"/>
                </a:solidFill>
                <a:latin typeface="微软雅黑"/>
                <a:ea typeface="微软雅黑"/>
              </a:rPr>
              <a:t>AI建议FastAPI+numpy→改用纯Python Flask+自研GA</a:t>
            </a:r>
          </a:p>
        </p:txBody>
      </p:sp>
      <p:sp>
        <p:nvSpPr>
          <p:cNvPr id="43" name="Rect 44"/>
          <p:cNvSpPr/>
          <p:nvPr/>
        </p:nvSpPr>
        <p:spPr>
          <a:xfrm>
            <a:off x="5760000" y="1519200"/>
            <a:ext cx="36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Box 46"/>
          <p:cNvSpPr txBox="1"/>
          <p:nvPr/>
        </p:nvSpPr>
        <p:spPr>
          <a:xfrm>
            <a:off x="5903999" y="1519200"/>
            <a:ext cx="4680000" cy="14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.mat解析失败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5903999" y="16560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000" b="0" dirty="0">
                <a:solidFill>
                  <a:srgbClr val="465667"/>
                </a:solidFill>
                <a:latin typeface="微软雅黑"/>
                <a:ea typeface="微软雅黑"/>
              </a:rPr>
              <a:t>AI建议scipy→编写纯Python解析器，逐步调试修复</a:t>
            </a:r>
          </a:p>
        </p:txBody>
      </p:sp>
      <p:sp>
        <p:nvSpPr>
          <p:cNvPr id="49" name="Rect 50"/>
          <p:cNvSpPr/>
          <p:nvPr/>
        </p:nvSpPr>
        <p:spPr>
          <a:xfrm>
            <a:off x="5760000" y="1850400"/>
            <a:ext cx="36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Box 52"/>
          <p:cNvSpPr txBox="1"/>
          <p:nvPr/>
        </p:nvSpPr>
        <p:spPr>
          <a:xfrm>
            <a:off x="5903999" y="1850400"/>
            <a:ext cx="4680000" cy="14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Git HTTPS失败</a:t>
            </a:r>
          </a:p>
        </p:txBody>
      </p:sp>
      <p:sp>
        <p:nvSpPr>
          <p:cNvPr id="53" name="TextBox 54"/>
          <p:cNvSpPr txBox="1"/>
          <p:nvPr/>
        </p:nvSpPr>
        <p:spPr>
          <a:xfrm>
            <a:off x="5903999" y="19872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000" b="0" dirty="0">
                <a:solidFill>
                  <a:srgbClr val="465667"/>
                </a:solidFill>
                <a:latin typeface="微软雅黑"/>
                <a:ea typeface="微软雅黑"/>
              </a:rPr>
              <a:t>AI建议标准HTTPS→改用SSH+443端口</a:t>
            </a:r>
          </a:p>
        </p:txBody>
      </p:sp>
      <p:sp>
        <p:nvSpPr>
          <p:cNvPr id="55" name="Rect 56"/>
          <p:cNvSpPr/>
          <p:nvPr/>
        </p:nvSpPr>
        <p:spPr>
          <a:xfrm>
            <a:off x="5760000" y="2181600"/>
            <a:ext cx="36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Box 58"/>
          <p:cNvSpPr txBox="1"/>
          <p:nvPr/>
        </p:nvSpPr>
        <p:spPr>
          <a:xfrm>
            <a:off x="5903999" y="2181600"/>
            <a:ext cx="4680000" cy="14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Popen title崩溃</a:t>
            </a:r>
          </a:p>
        </p:txBody>
      </p:sp>
      <p:sp>
        <p:nvSpPr>
          <p:cNvPr id="59" name="TextBox 60"/>
          <p:cNvSpPr txBox="1"/>
          <p:nvPr/>
        </p:nvSpPr>
        <p:spPr>
          <a:xfrm>
            <a:off x="5903999" y="23184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000" b="0" dirty="0">
                <a:solidFill>
                  <a:srgbClr val="465667"/>
                </a:solidFill>
                <a:latin typeface="微软雅黑"/>
                <a:ea typeface="微软雅黑"/>
              </a:rPr>
              <a:t>AI建议title参数→移除参数，改纯bat实现</a:t>
            </a:r>
          </a:p>
        </p:txBody>
      </p:sp>
      <p:sp>
        <p:nvSpPr>
          <p:cNvPr id="61" name="Rect 62"/>
          <p:cNvSpPr/>
          <p:nvPr/>
        </p:nvSpPr>
        <p:spPr>
          <a:xfrm>
            <a:off x="5760000" y="2512800"/>
            <a:ext cx="36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extBox 64"/>
          <p:cNvSpPr txBox="1"/>
          <p:nvPr/>
        </p:nvSpPr>
        <p:spPr>
          <a:xfrm>
            <a:off x="5903999" y="2512800"/>
            <a:ext cx="4680000" cy="14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甘特图空白</a:t>
            </a:r>
          </a:p>
        </p:txBody>
      </p:sp>
      <p:sp>
        <p:nvSpPr>
          <p:cNvPr id="65" name="TextBox 66"/>
          <p:cNvSpPr txBox="1"/>
          <p:nvPr/>
        </p:nvSpPr>
        <p:spPr>
          <a:xfrm>
            <a:off x="5903999" y="26496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000" b="0" dirty="0">
                <a:solidFill>
                  <a:srgbClr val="465667"/>
                </a:solidFill>
                <a:latin typeface="微软雅黑"/>
                <a:ea typeface="微软雅黑"/>
              </a:rPr>
              <a:t>AI建议clipRectByRect→移除，改直接矩形渲染</a:t>
            </a:r>
          </a:p>
        </p:txBody>
      </p:sp>
      <p:sp>
        <p:nvSpPr>
          <p:cNvPr id="67" name="Rect 68"/>
          <p:cNvSpPr/>
          <p:nvPr/>
        </p:nvSpPr>
        <p:spPr>
          <a:xfrm>
            <a:off x="5760000" y="2844000"/>
            <a:ext cx="36000" cy="2880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extBox 70"/>
          <p:cNvSpPr txBox="1"/>
          <p:nvPr/>
        </p:nvSpPr>
        <p:spPr>
          <a:xfrm>
            <a:off x="5903999" y="2844000"/>
            <a:ext cx="4680000" cy="144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1" dirty="0">
                <a:solidFill>
                  <a:srgbClr val="0D1B2A"/>
                </a:solidFill>
                <a:latin typeface="微软雅黑"/>
                <a:ea typeface="微软雅黑"/>
              </a:rPr>
              <a:t>启动闪退</a:t>
            </a:r>
          </a:p>
        </p:txBody>
      </p:sp>
      <p:sp>
        <p:nvSpPr>
          <p:cNvPr id="71" name="TextBox 72"/>
          <p:cNvSpPr txBox="1"/>
          <p:nvPr/>
        </p:nvSpPr>
        <p:spPr>
          <a:xfrm>
            <a:off x="5903999" y="29808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000" b="0" dirty="0">
                <a:solidFill>
                  <a:srgbClr val="465667"/>
                </a:solidFill>
                <a:latin typeface="微软雅黑"/>
                <a:ea typeface="微软雅黑"/>
              </a:rPr>
              <a:t>AI建议subprocess管理→改纯bat+三级Python搜索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4"/>
          <p:cNvSpPr txBox="1"/>
          <p:nvPr/>
        </p:nvSpPr>
        <p:spPr>
          <a:xfrm>
            <a:off x="540000" y="144000"/>
            <a:ext cx="900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2400" b="1" dirty="0">
                <a:solidFill>
                  <a:srgbClr val="FFFFFF"/>
                </a:solidFill>
                <a:latin typeface="微软雅黑"/>
                <a:ea typeface="微软雅黑"/>
              </a:rPr>
              <a:t>06  总结与展望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54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成果总结</a:t>
            </a:r>
          </a:p>
        </p:txBody>
      </p:sp>
      <p:cxnSp>
        <p:nvCxnSpPr>
          <p:cNvPr id="17" name="Line 18"/>
          <p:cNvCxnSpPr/>
          <p:nvPr/>
        </p:nvCxnSpPr>
        <p:spPr>
          <a:xfrm>
            <a:off x="540000" y="1080000"/>
            <a:ext cx="108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19" name="TextBox 20"/>
          <p:cNvSpPr txBox="1"/>
          <p:nvPr/>
        </p:nvSpPr>
        <p:spPr>
          <a:xfrm>
            <a:off x="540000" y="11880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756000" y="11880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完整B/S架构系统：Flask后端+Vue3前端+SQLite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540000" y="14112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5" name="TextBox 26"/>
          <p:cNvSpPr txBox="1"/>
          <p:nvPr/>
        </p:nvSpPr>
        <p:spPr>
          <a:xfrm>
            <a:off x="756000" y="14112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自研遗传算法：POX交叉，含工装约束，Makespan=28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540000" y="16344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756000" y="16344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4个技术方向全覆盖：调度/大数据/数字孪生/系统集成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540000" y="18576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756000" y="18576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20个FJSP-F实例纯Python预处理，数据可复现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540000" y="20808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756000" y="20808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28项自动化测试全通过，端到端流程验证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540000" y="23040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756000" y="23040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需求规格说明书1.1万字+系统设计报告3.6万字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540000" y="2527200"/>
            <a:ext cx="1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756000" y="2527200"/>
            <a:ext cx="4680000" cy="19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200" b="0" dirty="0">
                <a:solidFill>
                  <a:srgbClr val="465667"/>
                </a:solidFill>
                <a:latin typeface="微软雅黑"/>
                <a:ea typeface="微软雅黑"/>
              </a:rPr>
              <a:t>一键启动/关闭，纯Python轻量架构，受限环境可运行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5940000" y="792000"/>
            <a:ext cx="4680000" cy="2519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800" b="1" dirty="0">
                <a:solidFill>
                  <a:srgbClr val="0D1B2A"/>
                </a:solidFill>
                <a:latin typeface="微软雅黑"/>
                <a:ea typeface="微软雅黑"/>
              </a:rPr>
              <a:t>不足与未来展望</a:t>
            </a:r>
          </a:p>
        </p:txBody>
      </p:sp>
      <p:cxnSp>
        <p:nvCxnSpPr>
          <p:cNvPr id="49" name="Line 50"/>
          <p:cNvCxnSpPr/>
          <p:nvPr/>
        </p:nvCxnSpPr>
        <p:spPr>
          <a:xfrm>
            <a:off x="5940000" y="1080000"/>
            <a:ext cx="-3780000" cy="0"/>
          </a:xfrm>
          <a:prstGeom prst="line">
            <a:avLst/>
          </a:prstGeom>
          <a:ln w="12700">
            <a:solidFill>
              <a:srgbClr val="C9A66B"/>
            </a:solidFill>
          </a:ln>
        </p:spPr>
      </p:cxnSp>
      <p:sp>
        <p:nvSpPr>
          <p:cNvPr id="51" name="TextBox 52"/>
          <p:cNvSpPr txBox="1"/>
          <p:nvPr/>
        </p:nvSpPr>
        <p:spPr>
          <a:xfrm>
            <a:off x="5940000" y="11880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64748B"/>
                </a:solidFill>
                <a:latin typeface="微软雅黑"/>
                <a:ea typeface="微软雅黑"/>
              </a:rPr>
              <a:t>当前不足</a:t>
            </a:r>
          </a:p>
        </p:txBody>
      </p:sp>
      <p:sp>
        <p:nvSpPr>
          <p:cNvPr id="53" name="TextBox 54"/>
          <p:cNvSpPr txBox="1"/>
          <p:nvPr/>
        </p:nvSpPr>
        <p:spPr>
          <a:xfrm>
            <a:off x="5940000" y="1404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• 算法单一（仅遗传算法）</a:t>
            </a:r>
          </a:p>
        </p:txBody>
      </p:sp>
      <p:sp>
        <p:nvSpPr>
          <p:cNvPr id="55" name="TextBox 56"/>
          <p:cNvSpPr txBox="1"/>
          <p:nvPr/>
        </p:nvSpPr>
        <p:spPr>
          <a:xfrm>
            <a:off x="5940000" y="1584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• 单目标优化（仅Makespan）</a:t>
            </a:r>
          </a:p>
        </p:txBody>
      </p:sp>
      <p:sp>
        <p:nvSpPr>
          <p:cNvPr id="57" name="TextBox 58"/>
          <p:cNvSpPr txBox="1"/>
          <p:nvPr/>
        </p:nvSpPr>
        <p:spPr>
          <a:xfrm>
            <a:off x="5940000" y="1764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• 数字孪生为二维简化模型</a:t>
            </a:r>
          </a:p>
        </p:txBody>
      </p:sp>
      <p:sp>
        <p:nvSpPr>
          <p:cNvPr id="59" name="TextBox 60"/>
          <p:cNvSpPr txBox="1"/>
          <p:nvPr/>
        </p:nvSpPr>
        <p:spPr>
          <a:xfrm>
            <a:off x="5940000" y="1944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• 未支持动态事件重调度</a:t>
            </a:r>
          </a:p>
        </p:txBody>
      </p:sp>
      <p:sp>
        <p:nvSpPr>
          <p:cNvPr id="61" name="TextBox 62"/>
          <p:cNvSpPr txBox="1"/>
          <p:nvPr/>
        </p:nvSpPr>
        <p:spPr>
          <a:xfrm>
            <a:off x="5940000" y="2160000"/>
            <a:ext cx="468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400" b="1" dirty="0">
                <a:solidFill>
                  <a:srgbClr val="C9A66B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id="63" name="TextBox 64"/>
          <p:cNvSpPr txBox="1"/>
          <p:nvPr/>
        </p:nvSpPr>
        <p:spPr>
          <a:xfrm>
            <a:off x="5940000" y="2376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→ 多算法融合（模拟退火/强化学习）</a:t>
            </a:r>
          </a:p>
        </p:txBody>
      </p:sp>
      <p:sp>
        <p:nvSpPr>
          <p:cNvPr id="65" name="TextBox 66"/>
          <p:cNvSpPr txBox="1"/>
          <p:nvPr/>
        </p:nvSpPr>
        <p:spPr>
          <a:xfrm>
            <a:off x="5940000" y="2556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→ 多目标优化（工期+成本+能耗）</a:t>
            </a:r>
          </a:p>
        </p:txBody>
      </p:sp>
      <p:sp>
        <p:nvSpPr>
          <p:cNvPr id="67" name="TextBox 68"/>
          <p:cNvSpPr txBox="1"/>
          <p:nvPr/>
        </p:nvSpPr>
        <p:spPr>
          <a:xfrm>
            <a:off x="5940000" y="2736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→ 实时调度与重调度（设备故障/紧急插单）</a:t>
            </a:r>
          </a:p>
        </p:txBody>
      </p:sp>
      <p:sp>
        <p:nvSpPr>
          <p:cNvPr id="69" name="TextBox 70"/>
          <p:cNvSpPr txBox="1"/>
          <p:nvPr/>
        </p:nvSpPr>
        <p:spPr>
          <a:xfrm>
            <a:off x="5940000" y="2916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→ 大模型深度集成（自然语言交互调度）</a:t>
            </a:r>
          </a:p>
        </p:txBody>
      </p:sp>
      <p:sp>
        <p:nvSpPr>
          <p:cNvPr id="71" name="TextBox 72"/>
          <p:cNvSpPr txBox="1"/>
          <p:nvPr/>
        </p:nvSpPr>
        <p:spPr>
          <a:xfrm>
            <a:off x="5940000" y="3096000"/>
            <a:ext cx="4680000" cy="1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eft" lnSpc="130%"/>
            <a:r>
              <a:rPr lang="zh-CN" sz="1100" b="0" dirty="0">
                <a:solidFill>
                  <a:srgbClr val="465667"/>
                </a:solidFill>
                <a:latin typeface="微软雅黑"/>
                <a:ea typeface="微软雅黑"/>
              </a:rPr>
              <a:t>→ MES系统集成（OPC UA/RESTful对接）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4"/>
          <p:cNvSpPr/>
          <p:nvPr/>
        </p:nvSpPr>
        <p:spPr>
          <a:xfrm>
            <a:off x="0" y="1620000"/>
            <a:ext cx="12192000" cy="21600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6"/>
          <p:cNvSpPr txBox="1"/>
          <p:nvPr/>
        </p:nvSpPr>
        <p:spPr>
          <a:xfrm>
            <a:off x="720000" y="1080000"/>
            <a:ext cx="9720000" cy="5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4800" b="1" dirty="0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17" name="TextBox 18"/>
          <p:cNvSpPr txBox="1"/>
          <p:nvPr/>
        </p:nvSpPr>
        <p:spPr>
          <a:xfrm>
            <a:off x="720000" y="1728000"/>
            <a:ext cx="9720000" cy="3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30%"/>
            <a:r>
              <a:rPr lang="zh-CN" sz="2200" b="0" dirty="0">
                <a:solidFill>
                  <a:srgbClr val="E8DCC8"/>
                </a:solidFill>
                <a:latin typeface="微软雅黑"/>
                <a:ea typeface="微软雅黑"/>
              </a:rPr>
              <a:t>敬请各位老师批评指正</a:t>
            </a:r>
          </a:p>
        </p:txBody>
      </p:sp>
      <p:sp>
        <p:nvSpPr>
          <p:cNvPr id="19" name="TextBox 20"/>
          <p:cNvSpPr txBox="1"/>
          <p:nvPr/>
        </p:nvSpPr>
        <p:spPr>
          <a:xfrm>
            <a:off x="720000" y="2520000"/>
            <a:ext cx="9720000" cy="7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enter" lnSpc="160%"/>
            <a:r>
              <a:rPr lang="zh-CN" sz="1400" b="0" dirty="0">
                <a:solidFill>
                  <a:srgbClr val="64748B"/>
                </a:solidFill>
                <a:latin typeface="微软雅黑"/>
                <a:ea typeface="微软雅黑"/>
              </a:rPr>
              <a:t>柔性作业车间智能调度辅助Agent系统</a:t>
            </a:r>
          </a:p>
          <a:p>
            <a:pPr algn="center"/>
          </a:p>
          <a:p>
            <a:pPr algn="center" lnSpc="160%"/>
            <a:r>
              <a:rPr lang="zh-CN" sz="1400" b="0" dirty="0">
                <a:solidFill>
                  <a:srgbClr val="64748B"/>
                </a:solidFill>
                <a:latin typeface="微软雅黑"/>
                <a:ea typeface="微软雅黑"/>
              </a:rPr>
              <a:t>学生：李勇琦（学号09）  |  指导教师：董绪斌</a:t>
            </a:r>
          </a:p>
          <a:p>
            <a:pPr algn="center" lnSpc="160%"/>
            <a:r>
              <a:rPr lang="zh-CN" sz="1400" b="0" dirty="0">
                <a:solidFill>
                  <a:srgbClr val="64748B"/>
                </a:solidFill>
                <a:latin typeface="微软雅黑"/>
                <a:ea typeface="微软雅黑"/>
              </a:rPr>
              <a:t>制造智能技术课程设计  |  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0D1B2A"/>
      </a:dk1>
      <a:lt1>
        <a:srgbClr val="F7F7F8"/>
      </a:lt1>
      <a:dk2>
        <a:srgbClr val="64748B"/>
      </a:dk2>
      <a:lt2>
        <a:srgbClr val="EEF0F2"/>
      </a:lt2>
      <a:accent1>
        <a:srgbClr val="C9A66B"/>
      </a:accent1>
      <a:accent2>
        <a:srgbClr val="64748B"/>
      </a:accent2>
      <a:accent3>
        <a:srgbClr val="E8DCC8"/>
      </a:accent3>
      <a:accent4>
        <a:srgbClr val="465667"/>
      </a:accent4>
      <a:accent5>
        <a:srgbClr val="0D1B2A"/>
      </a:accent5>
      <a:accent6>
        <a:srgbClr val="64748B"/>
      </a:accent6>
      <a:hlink>
        <a:srgbClr val="C9A66B"/>
      </a:hlink>
      <a:folHlink>
        <a:srgbClr val="64748B"/>
      </a:folHlink>
    </a:clrScheme>
    <a:fontScheme name="Custom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柔性作业车间智能调度辅助Agent系统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柔性作业车间智能调度辅助Agent系统-答辩PPT</dc:title>
  <dc:creator>李勇琦</dc:creator>
  <cp:lastModifiedBy>李勇琦</cp:lastModifiedBy>
  <dcterms:created xsi:type="dcterms:W3CDTF">2026-09-03T00:00:00Z</dcterms:created>
  <dcterms:modified xsi:type="dcterms:W3CDTF">2026-09-03T00:00:00Z</dcterms:modified>
</cp:coreProperties>
</file>