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16x9"/>
  <p:notesSz cx="6858000" cy="9144000"/>
  <p:defaultTextStyle>
    <a:defPPr>
      <a:defRPr lang="zh-CN"/>
    </a:defPPr>
    <a:lvl1pPr marL="0" algn="l">
      <a:defRPr sz="1800" lang="zh-CN">
        <a:solidFill>
          <a:srgbClr val="3D4F5F"/>
        </a:solidFill>
        <a:latin typeface="微软雅黑"/>
        <a:ea typeface="微软雅黑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80"/>
  </p:normalViewPr>
  <p:slideViewPr>
    <p:cSldViewPr snapToGrid="1" snapToObjects="1" showGuides="1">
      <p:viewPr>
        <p:scale cx="100" cy="100"/>
        <p:origin x="0" y="0"/>
      </p:viewPr>
    </p:cSldViewPr>
  </p:slideViewPr>
  <p:notesTextViewPr>
    <p:cViewPr>
      <p:scale cx="100" cy="100"/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>
          <a:solidFill>
            <a:srgbClr val="0D1B2A"/>
          </a:solidFill>
          <a:latin typeface="微软雅黑"/>
          <a:ea typeface="微软雅黑"/>
        </a:defRPr>
      </a:lvl1pPr>
    </p:titleStyle>
    <p:bodyStyle>
      <a:lvl1pPr marL="342900" indent="-342900">
        <a:defRPr sz="1800">
          <a:solidFill>
            <a:srgbClr val="3D4F5F"/>
          </a:solidFill>
          <a:latin typeface="微软雅黑"/>
          <a:ea typeface="微软雅黑"/>
        </a:defRPr>
      </a:lvl1pPr>
    </p:bodyStyle>
    <p:otherStyle>
      <a:defPPr>
        <a:defRPr lang="zh-CN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792000"/>
            <a:ext cx="12192000" cy="288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540000" y="1512000"/>
            <a:ext cx="10800000" cy="64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10%"/>
            <a:r>
              <a:rPr lang="zh-CN" sz="3600" b="1" dirty="0">
                <a:solidFill>
                  <a:srgbClr val="0D1B2A"/>
                </a:solidFill>
                <a:latin typeface="微软雅黑"/>
                <a:ea typeface="微软雅黑"/>
              </a:rPr>
              <a:t>柔性作业车间智能调度辅助Agent系统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540000" y="2232000"/>
            <a:ext cx="10800000" cy="36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800" b="0" dirty="0">
                <a:solidFill>
                  <a:srgbClr val="64748B"/>
                </a:solidFill>
                <a:latin typeface="微软雅黑"/>
                <a:ea typeface="微软雅黑"/>
              </a:rPr>
              <a:t>基于遗传算法与数字孪生的制造智能调度平台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540000" y="2808000"/>
            <a:ext cx="3060000" cy="0"/>
          </a:xfrm>
          <a:prstGeom prst="line">
            <a:avLst/>
          </a:prstGeom>
          <a:ln w="25400">
            <a:solidFill>
              <a:srgbClr val="C9A66B"/>
            </a:solidFill>
          </a:ln>
        </p:spPr>
      </p:cxnSp>
      <p:sp>
        <p:nvSpPr>
          <p:cNvPr id="16" name="tb16"/>
          <p:cNvSpPr txBox="1"/>
          <p:nvPr/>
        </p:nvSpPr>
        <p:spPr>
          <a:xfrm>
            <a:off x="540000" y="3024000"/>
            <a:ext cx="7200000" cy="1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70%"/>
            <a:r>
              <a:rPr lang="zh-CN" sz="1500" b="0" dirty="0">
                <a:solidFill>
                  <a:srgbClr val="3D4F5F"/>
                </a:solidFill>
                <a:latin typeface="微软雅黑"/>
                <a:ea typeface="微软雅黑"/>
              </a:rPr>
              <a:t>学生：李勇琦（学号 09）</a:t>
            </a:r>
          </a:p>
          <a:p>
            <a:pPr algn="left" lnSpc="170%"/>
            <a:r>
              <a:rPr lang="zh-CN" sz="1500" b="0" dirty="0">
                <a:solidFill>
                  <a:srgbClr val="3D4F5F"/>
                </a:solidFill>
                <a:latin typeface="微软雅黑"/>
                <a:ea typeface="微软雅黑"/>
              </a:rPr>
              <a:t>指导教师：董绪斌</a:t>
            </a:r>
          </a:p>
          <a:p>
            <a:pPr algn="left" lnSpc="170%"/>
            <a:r>
              <a:rPr lang="zh-CN" sz="1500" b="0" dirty="0">
                <a:solidFill>
                  <a:srgbClr val="3D4F5F"/>
                </a:solidFill>
                <a:latin typeface="微软雅黑"/>
                <a:ea typeface="微软雅黑"/>
              </a:rPr>
              <a:t>课程：制造智能技术课程设计</a:t>
            </a:r>
          </a:p>
          <a:p>
            <a:pPr algn="left" lnSpc="170%"/>
            <a:r>
              <a:rPr lang="zh-CN" sz="1500" b="0" dirty="0">
                <a:solidFill>
                  <a:srgbClr val="3D4F5F"/>
                </a:solidFill>
                <a:latin typeface="微软雅黑"/>
                <a:ea typeface="微软雅黑"/>
              </a:rPr>
              <a:t>日期：2026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43200" cy="685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12"/>
          <p:cNvSpPr txBox="1"/>
          <p:nvPr/>
        </p:nvSpPr>
        <p:spPr>
          <a:xfrm>
            <a:off x="432000" y="288000"/>
            <a:ext cx="5400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3200" b="1" dirty="0">
                <a:solidFill>
                  <a:srgbClr val="0D1B2A"/>
                </a:solidFill>
                <a:latin typeface="微软雅黑"/>
                <a:ea typeface="微软雅黑"/>
              </a:rPr>
              <a:t>目录</a:t>
            </a:r>
          </a:p>
        </p:txBody>
      </p:sp>
      <p:cxnSp>
        <p:nvCxnSpPr>
          <p:cNvPr id="13" name="l13"/>
          <p:cNvCxnSpPr/>
          <p:nvPr/>
        </p:nvCxnSpPr>
        <p:spPr>
          <a:xfrm>
            <a:off x="432000" y="720000"/>
            <a:ext cx="1368000" cy="0"/>
          </a:xfrm>
          <a:prstGeom prst="line">
            <a:avLst/>
          </a:prstGeom>
          <a:ln w="25400">
            <a:solidFill>
              <a:srgbClr val="C9A66B"/>
            </a:solidFill>
          </a:ln>
        </p:spPr>
      </p:cxnSp>
      <p:sp>
        <p:nvSpPr>
          <p:cNvPr id="14" name="tb14"/>
          <p:cNvSpPr txBox="1"/>
          <p:nvPr/>
        </p:nvSpPr>
        <p:spPr>
          <a:xfrm>
            <a:off x="540000" y="1007999"/>
            <a:ext cx="720000" cy="36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2600" b="1" dirty="0">
                <a:solidFill>
                  <a:srgbClr val="C9A66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1368000" y="1007999"/>
            <a:ext cx="5040000" cy="251999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研究背景与意义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1368000" y="1241999"/>
            <a:ext cx="86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64748B"/>
                </a:solidFill>
                <a:latin typeface="微软雅黑"/>
                <a:ea typeface="微软雅黑"/>
              </a:rPr>
              <a:t>FJSP 问题、智能制造背景、研究价值</a:t>
            </a:r>
          </a:p>
        </p:txBody>
      </p:sp>
      <p:cxnSp>
        <p:nvCxnSpPr>
          <p:cNvPr id="17" name="l17"/>
          <p:cNvCxnSpPr/>
          <p:nvPr/>
        </p:nvCxnSpPr>
        <p:spPr>
          <a:xfrm>
            <a:off x="540000" y="1439999"/>
            <a:ext cx="102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18" name="tb18"/>
          <p:cNvSpPr txBox="1"/>
          <p:nvPr/>
        </p:nvSpPr>
        <p:spPr>
          <a:xfrm>
            <a:off x="540000" y="1529999"/>
            <a:ext cx="720000" cy="36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2600" b="1" dirty="0">
                <a:solidFill>
                  <a:srgbClr val="C9A66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1368000" y="1529999"/>
            <a:ext cx="5040000" cy="251999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技术方向与系统架构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1368000" y="1763999"/>
            <a:ext cx="86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64748B"/>
                </a:solidFill>
                <a:latin typeface="微软雅黑"/>
                <a:ea typeface="微软雅黑"/>
              </a:rPr>
              <a:t>4 个技术方向映射、B/S 三层架构</a:t>
            </a:r>
          </a:p>
        </p:txBody>
      </p:sp>
      <p:cxnSp>
        <p:nvCxnSpPr>
          <p:cNvPr id="21" name="l21"/>
          <p:cNvCxnSpPr/>
          <p:nvPr/>
        </p:nvCxnSpPr>
        <p:spPr>
          <a:xfrm>
            <a:off x="540000" y="1961999"/>
            <a:ext cx="102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22" name="tb22"/>
          <p:cNvSpPr txBox="1"/>
          <p:nvPr/>
        </p:nvSpPr>
        <p:spPr>
          <a:xfrm>
            <a:off x="540000" y="2051999"/>
            <a:ext cx="720000" cy="36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2600" b="1" dirty="0">
                <a:solidFill>
                  <a:srgbClr val="C9A66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1368000" y="2051999"/>
            <a:ext cx="5040000" cy="251999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数据资源构建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1368000" y="2285999"/>
            <a:ext cx="86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64748B"/>
                </a:solidFill>
                <a:latin typeface="微软雅黑"/>
                <a:ea typeface="微软雅黑"/>
              </a:rPr>
              <a:t>FJSP-F 数据集、纯 Python 预处理流程</a:t>
            </a:r>
          </a:p>
        </p:txBody>
      </p:sp>
      <p:cxnSp>
        <p:nvCxnSpPr>
          <p:cNvPr id="25" name="l25"/>
          <p:cNvCxnSpPr/>
          <p:nvPr/>
        </p:nvCxnSpPr>
        <p:spPr>
          <a:xfrm>
            <a:off x="540000" y="2483999"/>
            <a:ext cx="102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26" name="tb26"/>
          <p:cNvSpPr txBox="1"/>
          <p:nvPr/>
        </p:nvSpPr>
        <p:spPr>
          <a:xfrm>
            <a:off x="540000" y="2573999"/>
            <a:ext cx="720000" cy="36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2600" b="1" dirty="0">
                <a:solidFill>
                  <a:srgbClr val="C9A66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1368000" y="2573999"/>
            <a:ext cx="5040000" cy="251999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核心算法与系统实现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1368000" y="2807999"/>
            <a:ext cx="86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64748B"/>
                </a:solidFill>
                <a:latin typeface="微软雅黑"/>
                <a:ea typeface="微软雅黑"/>
              </a:rPr>
              <a:t>遗传算法设计、后端 API、前端 7 页面</a:t>
            </a:r>
          </a:p>
        </p:txBody>
      </p:sp>
      <p:cxnSp>
        <p:nvCxnSpPr>
          <p:cNvPr id="29" name="l29"/>
          <p:cNvCxnSpPr/>
          <p:nvPr/>
        </p:nvCxnSpPr>
        <p:spPr>
          <a:xfrm>
            <a:off x="540000" y="3005999"/>
            <a:ext cx="102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30" name="tb30"/>
          <p:cNvSpPr txBox="1"/>
          <p:nvPr/>
        </p:nvSpPr>
        <p:spPr>
          <a:xfrm>
            <a:off x="540000" y="3095999"/>
            <a:ext cx="720000" cy="36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2600" b="1" dirty="0">
                <a:solidFill>
                  <a:srgbClr val="C9A66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1368000" y="3095999"/>
            <a:ext cx="5040000" cy="251999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测试验证与 AI 使用披露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1368000" y="3329999"/>
            <a:ext cx="86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64748B"/>
                </a:solidFill>
                <a:latin typeface="微软雅黑"/>
                <a:ea typeface="微软雅黑"/>
              </a:rPr>
              <a:t>28 项自动化测试、AI 工具与策略披露</a:t>
            </a:r>
          </a:p>
        </p:txBody>
      </p:sp>
      <p:cxnSp>
        <p:nvCxnSpPr>
          <p:cNvPr id="33" name="l33"/>
          <p:cNvCxnSpPr/>
          <p:nvPr/>
        </p:nvCxnSpPr>
        <p:spPr>
          <a:xfrm>
            <a:off x="540000" y="3527999"/>
            <a:ext cx="102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34" name="tb34"/>
          <p:cNvSpPr txBox="1"/>
          <p:nvPr/>
        </p:nvSpPr>
        <p:spPr>
          <a:xfrm>
            <a:off x="540000" y="3617999"/>
            <a:ext cx="720000" cy="36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2600" b="1" dirty="0">
                <a:solidFill>
                  <a:srgbClr val="C9A66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368000" y="3617999"/>
            <a:ext cx="5040000" cy="251999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1368000" y="3851999"/>
            <a:ext cx="86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64748B"/>
                </a:solidFill>
                <a:latin typeface="微软雅黑"/>
                <a:ea typeface="微软雅黑"/>
              </a:rPr>
              <a:t>成果总结、不足分析、未来扩展方向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01  研究背景与意义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432000" y="792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研究背景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432000" y="1026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16" name="tb16"/>
          <p:cNvSpPr txBox="1"/>
          <p:nvPr/>
        </p:nvSpPr>
        <p:spPr>
          <a:xfrm>
            <a:off x="432000" y="1152000"/>
            <a:ext cx="5040000" cy="2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45%"/>
            <a:r>
              <a:rPr lang="zh-CN" sz="1300" b="0" dirty="0">
                <a:solidFill>
                  <a:srgbClr val="3D4F5F"/>
                </a:solidFill>
                <a:latin typeface="微软雅黑"/>
                <a:ea typeface="微软雅黑"/>
              </a:rPr>
              <a:t>柔性作业车间调度（FJSP）是智能制造的核心问题，每道工序可在多台机器中选择，比传统 JSP 更贴近实际生产。</a:t>
            </a:r>
          </a:p>
          <a:p>
            <a:pPr algn="left"/>
          </a:p>
          <a:p>
            <a:pPr algn="left" lnSpc="145%"/>
            <a:r>
              <a:rPr lang="zh-CN" sz="1300" b="0" dirty="0">
                <a:solidFill>
                  <a:srgbClr val="3D4F5F"/>
                </a:solidFill>
                <a:latin typeface="微软雅黑"/>
                <a:ea typeface="微软雅黑"/>
              </a:rPr>
              <a:t>传统调度系统存在三大局限：</a:t>
            </a:r>
          </a:p>
          <a:p>
            <a:pPr algn="left" lnSpc="145%"/>
            <a:r>
              <a:rPr lang="zh-CN" sz="1300" b="0" dirty="0">
                <a:solidFill>
                  <a:srgbClr val="3D4F5F"/>
                </a:solidFill>
                <a:latin typeface="微软雅黑"/>
                <a:ea typeface="微软雅黑"/>
              </a:rPr>
              <a:t>• 问题规模大，组合复杂度指数增长</a:t>
            </a:r>
          </a:p>
          <a:p>
            <a:pPr algn="left" lnSpc="145%"/>
            <a:r>
              <a:rPr lang="zh-CN" sz="1300" b="0" dirty="0">
                <a:solidFill>
                  <a:srgbClr val="3D4F5F"/>
                </a:solidFill>
                <a:latin typeface="微软雅黑"/>
                <a:ea typeface="微软雅黑"/>
              </a:rPr>
              <a:t>• 约束条件多（机器 / 工装 / 交货期 / 优先级）</a:t>
            </a:r>
          </a:p>
          <a:p>
            <a:pPr algn="left" lnSpc="145%"/>
            <a:r>
              <a:rPr lang="zh-CN" sz="1300" b="0" dirty="0">
                <a:solidFill>
                  <a:srgbClr val="3D4F5F"/>
                </a:solidFill>
                <a:latin typeface="微软雅黑"/>
                <a:ea typeface="微软雅黑"/>
              </a:rPr>
              <a:t>• 决策过程不透明，方案难以理解和调整</a:t>
            </a:r>
          </a:p>
          <a:p>
            <a:pPr algn="left"/>
          </a:p>
          <a:p>
            <a:pPr algn="left" lnSpc="145%"/>
            <a:r>
              <a:rPr lang="zh-CN" sz="1300" b="0" dirty="0">
                <a:solidFill>
                  <a:srgbClr val="3D4F5F"/>
                </a:solidFill>
                <a:latin typeface="微软雅黑"/>
                <a:ea typeface="微软雅黑"/>
              </a:rPr>
              <a:t>AI Agent 技术为解决上述问题提供了新思路：自然语言交互降低使用门槛，推理能力提升决策透明度。</a:t>
            </a:r>
          </a:p>
        </p:txBody>
      </p:sp>
      <p:sp>
        <p:nvSpPr>
          <p:cNvPr id="17" name="r17"/>
          <p:cNvSpPr/>
          <p:nvPr/>
        </p:nvSpPr>
        <p:spPr>
          <a:xfrm>
            <a:off x="5940000" y="792000"/>
            <a:ext cx="5580000" cy="2520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b18"/>
          <p:cNvSpPr txBox="1"/>
          <p:nvPr/>
        </p:nvSpPr>
        <p:spPr>
          <a:xfrm>
            <a:off x="6120000" y="900000"/>
            <a:ext cx="360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研究意义</a:t>
            </a:r>
          </a:p>
        </p:txBody>
      </p:sp>
      <p:cxnSp>
        <p:nvCxnSpPr>
          <p:cNvPr id="19" name="l19"/>
          <p:cNvCxnSpPr/>
          <p:nvPr/>
        </p:nvCxnSpPr>
        <p:spPr>
          <a:xfrm>
            <a:off x="6120000" y="1134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20" name="tb20"/>
          <p:cNvSpPr txBox="1"/>
          <p:nvPr/>
        </p:nvSpPr>
        <p:spPr>
          <a:xfrm>
            <a:off x="6120000" y="1332000"/>
            <a:ext cx="5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500" b="1" dirty="0">
                <a:solidFill>
                  <a:srgbClr val="C9A66B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6408000" y="1332000"/>
            <a:ext cx="486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理论意义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6408000" y="1530000"/>
            <a:ext cx="4968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5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探索 LLM Agent 与 FJSP 调度系统的融合路径，验证 AI Agent 在复杂制造调度场景的适用性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6120000" y="1998000"/>
            <a:ext cx="5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500" b="1" dirty="0">
                <a:solidFill>
                  <a:srgbClr val="C9A66B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6408000" y="1998000"/>
            <a:ext cx="486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实践意义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6408000" y="2196000"/>
            <a:ext cx="4968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5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降低调度系统使用门槛，提升方案透明度和可解释性，符合人机协同发展趋势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6120000" y="2664000"/>
            <a:ext cx="5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500" b="1" dirty="0">
                <a:solidFill>
                  <a:srgbClr val="C9A66B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6408000" y="2664000"/>
            <a:ext cx="486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工程价值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6408000" y="2862000"/>
            <a:ext cx="4968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5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纯 Python 轻量架构，在受限环境仍可完整运行，一键启动 / 关闭，易于部署和演示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02  技术方向与系统架构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432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课程技术方向覆盖（4 个方向）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432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graphicFrame>
        <p:nvGraphicFramePr>
          <p:cNvPr id="16" name="t16"/>
          <p:cNvGraphicFramePr/>
          <p:nvPr/>
        </p:nvGraphicFramePr>
        <p:xfrm>
          <a:off x="432000" y="1080000"/>
          <a:ext cx="110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5688000"/>
              </a:tblGrid>
              <a:tr h="2160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技术方向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对应课程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系统实现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160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工艺规划与车间调度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智能制造工艺与调度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遗传算法求解 FJSP，POX 交叉，收敛曲线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160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工业大数据采集与分析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工业大数据与机器学习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统计分析、瓶颈识别、多实例对比、负载均衡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160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数字孪生与系统仿真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数字孪生技术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车间状态映射、甘特图可视化、设备运行动画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160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智能制造系统集成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智能制造系统集成及应用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RESTful API、SQLite 数据库、任务管理、决策解释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b17"/>
          <p:cNvSpPr txBox="1"/>
          <p:nvPr/>
        </p:nvSpPr>
        <p:spPr>
          <a:xfrm>
            <a:off x="432000" y="2304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B/S 三层架构</a:t>
            </a:r>
          </a:p>
        </p:txBody>
      </p:sp>
      <p:cxnSp>
        <p:nvCxnSpPr>
          <p:cNvPr id="18" name="l18"/>
          <p:cNvCxnSpPr/>
          <p:nvPr/>
        </p:nvCxnSpPr>
        <p:spPr>
          <a:xfrm>
            <a:off x="432000" y="2538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19" name="r19"/>
          <p:cNvSpPr/>
          <p:nvPr/>
        </p:nvSpPr>
        <p:spPr>
          <a:xfrm>
            <a:off x="432000" y="2628000"/>
            <a:ext cx="1800000" cy="216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20"/>
          <p:cNvSpPr txBox="1"/>
          <p:nvPr/>
        </p:nvSpPr>
        <p:spPr>
          <a:xfrm>
            <a:off x="432000" y="2656800"/>
            <a:ext cx="1800000" cy="162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300" b="1" dirty="0">
                <a:solidFill>
                  <a:srgbClr val="FFFFFF"/>
                </a:solidFill>
                <a:latin typeface="微软雅黑"/>
                <a:ea typeface="微软雅黑"/>
              </a:rPr>
              <a:t>表现层</a:t>
            </a:r>
          </a:p>
        </p:txBody>
      </p:sp>
      <p:sp>
        <p:nvSpPr>
          <p:cNvPr id="21" name="r21"/>
          <p:cNvSpPr/>
          <p:nvPr/>
        </p:nvSpPr>
        <p:spPr>
          <a:xfrm>
            <a:off x="2340000" y="2628000"/>
            <a:ext cx="9180000" cy="216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b22"/>
          <p:cNvSpPr txBox="1"/>
          <p:nvPr/>
        </p:nvSpPr>
        <p:spPr>
          <a:xfrm>
            <a:off x="2484000" y="2656800"/>
            <a:ext cx="9000000" cy="162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Vue 3 + ECharts 5  |  7 个功能页面：概览 / 数据集 / 调度 / 分析 / 数字孪生 / 历史</a:t>
            </a:r>
          </a:p>
        </p:txBody>
      </p:sp>
      <p:sp>
        <p:nvSpPr>
          <p:cNvPr id="23" name="r23"/>
          <p:cNvSpPr/>
          <p:nvPr/>
        </p:nvSpPr>
        <p:spPr>
          <a:xfrm>
            <a:off x="432000" y="2887200"/>
            <a:ext cx="1800000" cy="216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432000" y="2916000"/>
            <a:ext cx="1800000" cy="162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300" b="1" dirty="0">
                <a:solidFill>
                  <a:srgbClr val="FFFFFF"/>
                </a:solidFill>
                <a:latin typeface="微软雅黑"/>
                <a:ea typeface="微软雅黑"/>
              </a:rPr>
              <a:t>业务逻辑层</a:t>
            </a:r>
          </a:p>
        </p:txBody>
      </p:sp>
      <p:sp>
        <p:nvSpPr>
          <p:cNvPr id="25" name="r25"/>
          <p:cNvSpPr/>
          <p:nvPr/>
        </p:nvSpPr>
        <p:spPr>
          <a:xfrm>
            <a:off x="2340000" y="2887200"/>
            <a:ext cx="9180000" cy="216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b26"/>
          <p:cNvSpPr txBox="1"/>
          <p:nvPr/>
        </p:nvSpPr>
        <p:spPr>
          <a:xfrm>
            <a:off x="2484000" y="2916000"/>
            <a:ext cx="9000000" cy="162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Flask RESTful API  |  调度算法模块（GA）+ 数据分析模块 + API 路由层</a:t>
            </a:r>
          </a:p>
        </p:txBody>
      </p:sp>
      <p:sp>
        <p:nvSpPr>
          <p:cNvPr id="27" name="r27"/>
          <p:cNvSpPr/>
          <p:nvPr/>
        </p:nvSpPr>
        <p:spPr>
          <a:xfrm>
            <a:off x="432000" y="3146400"/>
            <a:ext cx="1800000" cy="21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b28"/>
          <p:cNvSpPr txBox="1"/>
          <p:nvPr/>
        </p:nvSpPr>
        <p:spPr>
          <a:xfrm>
            <a:off x="432000" y="3175200"/>
            <a:ext cx="1800000" cy="162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300" b="1" dirty="0">
                <a:solidFill>
                  <a:srgbClr val="FFFFFF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29" name="r29"/>
          <p:cNvSpPr/>
          <p:nvPr/>
        </p:nvSpPr>
        <p:spPr>
          <a:xfrm>
            <a:off x="2340000" y="3146400"/>
            <a:ext cx="9180000" cy="216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b30"/>
          <p:cNvSpPr txBox="1"/>
          <p:nvPr/>
        </p:nvSpPr>
        <p:spPr>
          <a:xfrm>
            <a:off x="2484000" y="3175200"/>
            <a:ext cx="9000000" cy="162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SQLite 数据库（4 张表）  |  JSON 实例数据文件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03  数据资源构建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432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数据集来源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432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16" name="tb16"/>
          <p:cNvSpPr txBox="1"/>
          <p:nvPr/>
        </p:nvSpPr>
        <p:spPr>
          <a:xfrm>
            <a:off x="432000" y="1116000"/>
            <a:ext cx="136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名称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1872000" y="1116000"/>
            <a:ext cx="37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FJSP-F benchmark（含工装约束）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432000" y="1324800"/>
            <a:ext cx="136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发布机构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1872000" y="1324800"/>
            <a:ext cx="37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华中科技大学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432000" y="1533600"/>
            <a:ext cx="136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来源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872000" y="1533600"/>
            <a:ext cx="37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Zenodo: 11526695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432000" y="1742400"/>
            <a:ext cx="136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实例数量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1872000" y="1742400"/>
            <a:ext cx="37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20 个（FJSP-F1 ~ FJSP-F20）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432000" y="1951200"/>
            <a:ext cx="136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规模范围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1872000" y="1951200"/>
            <a:ext cx="37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3 作业 × 2 机器 至 20 作业 × 10 机器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432000" y="2160000"/>
            <a:ext cx="136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原始格式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1872000" y="2160000"/>
            <a:ext cx="37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.mat（MATLAB 格式）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432000" y="2368800"/>
            <a:ext cx="136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预处理格式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1872000" y="2368800"/>
            <a:ext cx="37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.json（结构化 JSON）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5940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纯 Python 预处理流程</a:t>
            </a:r>
          </a:p>
        </p:txBody>
      </p:sp>
      <p:cxnSp>
        <p:nvCxnSpPr>
          <p:cNvPr id="31" name="l31"/>
          <p:cNvCxnSpPr/>
          <p:nvPr/>
        </p:nvCxnSpPr>
        <p:spPr>
          <a:xfrm>
            <a:off x="5940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32" name="r32"/>
          <p:cNvSpPr/>
          <p:nvPr/>
        </p:nvSpPr>
        <p:spPr>
          <a:xfrm>
            <a:off x="5940000" y="1116000"/>
            <a:ext cx="251999" cy="251999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b33"/>
          <p:cNvSpPr txBox="1"/>
          <p:nvPr/>
        </p:nvSpPr>
        <p:spPr>
          <a:xfrm>
            <a:off x="5940000" y="1152000"/>
            <a:ext cx="251999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6336000" y="1116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0D1B2A"/>
                </a:solidFill>
                <a:latin typeface="微软雅黑"/>
                <a:ea typeface="微软雅黑"/>
              </a:rPr>
              <a:t>解析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6336000" y="1278000"/>
            <a:ext cx="5112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纯 Python .mat 解析器（仅用 struct + zlib，不依赖 numpy / scipy）</a:t>
            </a:r>
          </a:p>
        </p:txBody>
      </p:sp>
      <p:sp>
        <p:nvSpPr>
          <p:cNvPr id="36" name="r36"/>
          <p:cNvSpPr/>
          <p:nvPr/>
        </p:nvSpPr>
        <p:spPr>
          <a:xfrm>
            <a:off x="5940000" y="1548000"/>
            <a:ext cx="251999" cy="251999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b37"/>
          <p:cNvSpPr txBox="1"/>
          <p:nvPr/>
        </p:nvSpPr>
        <p:spPr>
          <a:xfrm>
            <a:off x="5940000" y="1584000"/>
            <a:ext cx="251999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6336000" y="1548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0D1B2A"/>
                </a:solidFill>
                <a:latin typeface="微软雅黑"/>
                <a:ea typeface="微软雅黑"/>
              </a:rPr>
              <a:t>提取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6336000" y="1710000"/>
            <a:ext cx="5112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提取作业 / 机器 / 工装 / 工序 / 加工时间 / 交货期等信息</a:t>
            </a:r>
          </a:p>
        </p:txBody>
      </p:sp>
      <p:sp>
        <p:nvSpPr>
          <p:cNvPr id="40" name="r40"/>
          <p:cNvSpPr/>
          <p:nvPr/>
        </p:nvSpPr>
        <p:spPr>
          <a:xfrm>
            <a:off x="5940000" y="1980000"/>
            <a:ext cx="251999" cy="251999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b41"/>
          <p:cNvSpPr txBox="1"/>
          <p:nvPr/>
        </p:nvSpPr>
        <p:spPr>
          <a:xfrm>
            <a:off x="5940000" y="2016000"/>
            <a:ext cx="251999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6336000" y="1980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0D1B2A"/>
                </a:solidFill>
                <a:latin typeface="微软雅黑"/>
                <a:ea typeface="微软雅黑"/>
              </a:rPr>
              <a:t>清洗补全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6336000" y="2142000"/>
            <a:ext cx="5112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解析不完整字段按 FJSP 特征自动补全合理值，固定种子可复现</a:t>
            </a:r>
          </a:p>
        </p:txBody>
      </p:sp>
      <p:sp>
        <p:nvSpPr>
          <p:cNvPr id="44" name="r44"/>
          <p:cNvSpPr/>
          <p:nvPr/>
        </p:nvSpPr>
        <p:spPr>
          <a:xfrm>
            <a:off x="5940000" y="2412000"/>
            <a:ext cx="251999" cy="251999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5940000" y="2448000"/>
            <a:ext cx="251999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46" name="tb46"/>
          <p:cNvSpPr txBox="1"/>
          <p:nvPr/>
        </p:nvSpPr>
        <p:spPr>
          <a:xfrm>
            <a:off x="6336000" y="2412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0D1B2A"/>
                </a:solidFill>
                <a:latin typeface="微软雅黑"/>
                <a:ea typeface="微软雅黑"/>
              </a:rPr>
              <a:t>结构化</a:t>
            </a:r>
          </a:p>
        </p:txBody>
      </p:sp>
      <p:sp>
        <p:nvSpPr>
          <p:cNvPr id="47" name="tb47"/>
          <p:cNvSpPr txBox="1"/>
          <p:nvPr/>
        </p:nvSpPr>
        <p:spPr>
          <a:xfrm>
            <a:off x="6336000" y="2574000"/>
            <a:ext cx="5112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转换为统一 JSON 格式（scale / jobs / machines / fixtures / metadata）</a:t>
            </a:r>
          </a:p>
        </p:txBody>
      </p:sp>
      <p:sp>
        <p:nvSpPr>
          <p:cNvPr id="48" name="r48"/>
          <p:cNvSpPr/>
          <p:nvPr/>
        </p:nvSpPr>
        <p:spPr>
          <a:xfrm>
            <a:off x="5940000" y="2844000"/>
            <a:ext cx="251999" cy="251999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5940000" y="2880000"/>
            <a:ext cx="251999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6336000" y="2844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0D1B2A"/>
                </a:solidFill>
                <a:latin typeface="微软雅黑"/>
                <a:ea typeface="微软雅黑"/>
              </a:rPr>
              <a:t>验证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6336000" y="3006000"/>
            <a:ext cx="5112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20 个实例全部验证通过（0 空数据，规模合理）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04  核心算法设计 — 遗传算法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432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两段式染色体编码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432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16" name="r16"/>
          <p:cNvSpPr/>
          <p:nvPr/>
        </p:nvSpPr>
        <p:spPr>
          <a:xfrm>
            <a:off x="432000" y="1116000"/>
            <a:ext cx="5220000" cy="612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17"/>
          <p:cNvSpPr txBox="1"/>
          <p:nvPr/>
        </p:nvSpPr>
        <p:spPr>
          <a:xfrm>
            <a:off x="540000" y="1170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0D1B2A"/>
                </a:solidFill>
                <a:latin typeface="微软雅黑"/>
                <a:ea typeface="微软雅黑"/>
              </a:rPr>
              <a:t>OS 段（操作序列）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540000" y="1350000"/>
            <a:ext cx="504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5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每个作业号出现 n_j 次，第 k 次出现表示作业 j 的第 k 道工序</a:t>
            </a:r>
          </a:p>
          <a:p>
            <a:pPr algn="left" lnSpc="135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示例：[1, 2, 1, 3, 2, 3, 1, 2, 3]（3 作业 × 3 工序）</a:t>
            </a:r>
          </a:p>
        </p:txBody>
      </p:sp>
      <p:sp>
        <p:nvSpPr>
          <p:cNvPr id="19" name="r19"/>
          <p:cNvSpPr/>
          <p:nvPr/>
        </p:nvSpPr>
        <p:spPr>
          <a:xfrm>
            <a:off x="432000" y="1800000"/>
            <a:ext cx="5220000" cy="612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20"/>
          <p:cNvSpPr txBox="1"/>
          <p:nvPr/>
        </p:nvSpPr>
        <p:spPr>
          <a:xfrm>
            <a:off x="540000" y="1854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0D1B2A"/>
                </a:solidFill>
                <a:latin typeface="微软雅黑"/>
                <a:ea typeface="微软雅黑"/>
              </a:rPr>
              <a:t>MA 段（机器分配）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540000" y="2034000"/>
            <a:ext cx="504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5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每个元素为对应工序分配的机器编号，必须在可选机器集合中</a:t>
            </a:r>
          </a:p>
          <a:p>
            <a:pPr algn="left" lnSpc="135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示例：[1, 2, 1, 2, 1, 2, 1, 2, 1]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940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遗传操作与解码</a:t>
            </a:r>
          </a:p>
        </p:txBody>
      </p:sp>
      <p:cxnSp>
        <p:nvCxnSpPr>
          <p:cNvPr id="23" name="l23"/>
          <p:cNvCxnSpPr/>
          <p:nvPr/>
        </p:nvCxnSpPr>
        <p:spPr>
          <a:xfrm>
            <a:off x="5940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24" name="tb24"/>
          <p:cNvSpPr txBox="1"/>
          <p:nvPr/>
        </p:nvSpPr>
        <p:spPr>
          <a:xfrm>
            <a:off x="5940000" y="1116000"/>
            <a:ext cx="10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50" b="1" dirty="0">
                <a:solidFill>
                  <a:srgbClr val="C9A66B"/>
                </a:solidFill>
                <a:latin typeface="微软雅黑"/>
                <a:ea typeface="微软雅黑"/>
              </a:rPr>
              <a:t>▸ 选择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7128000" y="111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锦标赛选择（k=3），从种群随机选 3 个取最优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5940000" y="1396800"/>
            <a:ext cx="10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50" b="1" dirty="0">
                <a:solidFill>
                  <a:srgbClr val="C9A66B"/>
                </a:solidFill>
                <a:latin typeface="微软雅黑"/>
                <a:ea typeface="微软雅黑"/>
              </a:rPr>
              <a:t>▸ 交叉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7128000" y="13968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OS 段 POX 交叉（保序，子代始终合法）；MA 段均匀交叉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5940000" y="1677600"/>
            <a:ext cx="10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50" b="1" dirty="0">
                <a:solidFill>
                  <a:srgbClr val="C9A66B"/>
                </a:solidFill>
                <a:latin typeface="微软雅黑"/>
                <a:ea typeface="微软雅黑"/>
              </a:rPr>
              <a:t>▸ 变异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7128000" y="16776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OS 段交换变异（Pm=0.1）；MA 段随机重选变异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5940000" y="1958400"/>
            <a:ext cx="10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50" b="1" dirty="0">
                <a:solidFill>
                  <a:srgbClr val="C9A66B"/>
                </a:solidFill>
                <a:latin typeface="微软雅黑"/>
                <a:ea typeface="微软雅黑"/>
              </a:rPr>
              <a:t>▸ 精英保留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128000" y="19584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每代保留最优个体直接进入下一代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5940000" y="2239200"/>
            <a:ext cx="10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50" b="1" dirty="0">
                <a:solidFill>
                  <a:srgbClr val="C9A66B"/>
                </a:solidFill>
                <a:latin typeface="微软雅黑"/>
                <a:ea typeface="微软雅黑"/>
              </a:rPr>
              <a:t>▸ 解码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7128000" y="22392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3D4F5F"/>
                </a:solidFill>
                <a:latin typeface="微软雅黑"/>
                <a:ea typeface="微软雅黑"/>
              </a:rPr>
              <a:t>主动调度解码，同时跟踪机器 / 作业 / 工装可用时间，取 max 作为开始时间</a:t>
            </a:r>
          </a:p>
        </p:txBody>
      </p:sp>
      <p:sp>
        <p:nvSpPr>
          <p:cNvPr id="34" name="r34"/>
          <p:cNvSpPr/>
          <p:nvPr/>
        </p:nvSpPr>
        <p:spPr>
          <a:xfrm>
            <a:off x="432000" y="2556000"/>
            <a:ext cx="11088000" cy="46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b35"/>
          <p:cNvSpPr txBox="1"/>
          <p:nvPr/>
        </p:nvSpPr>
        <p:spPr>
          <a:xfrm>
            <a:off x="576000" y="2610000"/>
            <a:ext cx="1080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参数设置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576000" y="2790000"/>
            <a:ext cx="1080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FFFFFF"/>
                </a:solidFill>
                <a:latin typeface="微软雅黑"/>
                <a:ea typeface="微软雅黑"/>
              </a:rPr>
              <a:t>pop_size = 100   |   max_gen = 200   |   crossover_rate = 0.8   |   mutation_rate = 0.1   |   tournament_size = 3   |   elite_count = 1   |   seed = 42（可复现）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04  系统实现</a:t>
            </a:r>
          </a:p>
        </p:txBody>
      </p:sp>
      <p:sp>
        <p:nvSpPr>
          <p:cNvPr id="14" name="r14"/>
          <p:cNvSpPr/>
          <p:nvPr/>
        </p:nvSpPr>
        <p:spPr>
          <a:xfrm>
            <a:off x="432000" y="792000"/>
            <a:ext cx="3528000" cy="25199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b15"/>
          <p:cNvSpPr txBox="1"/>
          <p:nvPr/>
        </p:nvSpPr>
        <p:spPr>
          <a:xfrm>
            <a:off x="432000" y="835200"/>
            <a:ext cx="352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后端服务</a:t>
            </a:r>
          </a:p>
        </p:txBody>
      </p:sp>
      <p:sp>
        <p:nvSpPr>
          <p:cNvPr id="16" name="r16"/>
          <p:cNvSpPr/>
          <p:nvPr/>
        </p:nvSpPr>
        <p:spPr>
          <a:xfrm>
            <a:off x="432000" y="1044000"/>
            <a:ext cx="3528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17"/>
          <p:cNvSpPr txBox="1"/>
          <p:nvPr/>
        </p:nvSpPr>
        <p:spPr>
          <a:xfrm>
            <a:off x="540000" y="1134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Flask 3.x 纯 Python 框架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540000" y="1393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20+ RESTful API 接口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540000" y="16524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健康检查 / 数据集管理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540000" y="19116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调度求解 / 数据分析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540000" y="21708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历史记录 / 系统日志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40000" y="2430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flask-cors 跨域处理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40000" y="2689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参数校验 + 统一错误处理</a:t>
            </a:r>
          </a:p>
        </p:txBody>
      </p:sp>
      <p:sp>
        <p:nvSpPr>
          <p:cNvPr id="24" name="r24"/>
          <p:cNvSpPr/>
          <p:nvPr/>
        </p:nvSpPr>
        <p:spPr>
          <a:xfrm>
            <a:off x="4176000" y="792000"/>
            <a:ext cx="3528000" cy="25199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b25"/>
          <p:cNvSpPr txBox="1"/>
          <p:nvPr/>
        </p:nvSpPr>
        <p:spPr>
          <a:xfrm>
            <a:off x="4176000" y="835200"/>
            <a:ext cx="352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数据库</a:t>
            </a:r>
          </a:p>
        </p:txBody>
      </p:sp>
      <p:sp>
        <p:nvSpPr>
          <p:cNvPr id="26" name="r26"/>
          <p:cNvSpPr/>
          <p:nvPr/>
        </p:nvSpPr>
        <p:spPr>
          <a:xfrm>
            <a:off x="4176000" y="1044000"/>
            <a:ext cx="3528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b27"/>
          <p:cNvSpPr txBox="1"/>
          <p:nvPr/>
        </p:nvSpPr>
        <p:spPr>
          <a:xfrm>
            <a:off x="4284000" y="1134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SQLite 3（Python 内置）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4284000" y="1393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4 张表设计：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4392000" y="16524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schedule_tasks 调度任务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4392000" y="19116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schedule_results 调度结果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4392000" y="21708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dataset_cache 数据集缓存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4392000" y="24300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system_logs 系统日志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4284000" y="2689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JSON 字段存储复杂调度数据</a:t>
            </a:r>
          </a:p>
        </p:txBody>
      </p:sp>
      <p:sp>
        <p:nvSpPr>
          <p:cNvPr id="34" name="r34"/>
          <p:cNvSpPr/>
          <p:nvPr/>
        </p:nvSpPr>
        <p:spPr>
          <a:xfrm>
            <a:off x="7920000" y="792000"/>
            <a:ext cx="3528000" cy="251999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b35"/>
          <p:cNvSpPr txBox="1"/>
          <p:nvPr/>
        </p:nvSpPr>
        <p:spPr>
          <a:xfrm>
            <a:off x="7920000" y="835200"/>
            <a:ext cx="352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前端界面</a:t>
            </a:r>
          </a:p>
        </p:txBody>
      </p:sp>
      <p:sp>
        <p:nvSpPr>
          <p:cNvPr id="36" name="r36"/>
          <p:cNvSpPr/>
          <p:nvPr/>
        </p:nvSpPr>
        <p:spPr>
          <a:xfrm>
            <a:off x="7920000" y="1044000"/>
            <a:ext cx="3528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b37"/>
          <p:cNvSpPr txBox="1"/>
          <p:nvPr/>
        </p:nvSpPr>
        <p:spPr>
          <a:xfrm>
            <a:off x="8028000" y="1134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Vue 3 Composition API (CDN)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8028000" y="1393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ECharts 5 可视化库 (CDN)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8028000" y="16524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7 个功能页面：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8136000" y="19116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系统概览 / 数据集管理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8136000" y="21708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智能调度 / 数据分析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8136000" y="24300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数字孪生 / 调度历史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8028000" y="2689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甘特图 / 收敛曲线 / 孪生动画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系统功能演示</a:t>
            </a:r>
          </a:p>
        </p:txBody>
      </p:sp>
      <p:sp>
        <p:nvSpPr>
          <p:cNvPr id="14" name="r14"/>
          <p:cNvSpPr/>
          <p:nvPr/>
        </p:nvSpPr>
        <p:spPr>
          <a:xfrm>
            <a:off x="432000" y="792000"/>
            <a:ext cx="3528000" cy="25199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b15"/>
          <p:cNvSpPr txBox="1"/>
          <p:nvPr/>
        </p:nvSpPr>
        <p:spPr>
          <a:xfrm>
            <a:off x="432000" y="835200"/>
            <a:ext cx="352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智能调度</a:t>
            </a:r>
          </a:p>
        </p:txBody>
      </p:sp>
      <p:sp>
        <p:nvSpPr>
          <p:cNvPr id="16" name="r16"/>
          <p:cNvSpPr/>
          <p:nvPr/>
        </p:nvSpPr>
        <p:spPr>
          <a:xfrm>
            <a:off x="432000" y="1044000"/>
            <a:ext cx="3528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17"/>
          <p:cNvSpPr txBox="1"/>
          <p:nvPr/>
        </p:nvSpPr>
        <p:spPr>
          <a:xfrm>
            <a:off x="540000" y="1134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实例选择 + 参数配置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540000" y="1393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遗传算法自动求解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540000" y="16524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甘特图展示调度方案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540000" y="19116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收敛曲线显示优化过程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540000" y="21708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机器利用率统计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40000" y="2430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自然语言决策解释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40000" y="2689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FJSP-F1: Makespan = 28</a:t>
            </a:r>
          </a:p>
        </p:txBody>
      </p:sp>
      <p:sp>
        <p:nvSpPr>
          <p:cNvPr id="24" name="r24"/>
          <p:cNvSpPr/>
          <p:nvPr/>
        </p:nvSpPr>
        <p:spPr>
          <a:xfrm>
            <a:off x="4176000" y="792000"/>
            <a:ext cx="3528000" cy="25199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b25"/>
          <p:cNvSpPr txBox="1"/>
          <p:nvPr/>
        </p:nvSpPr>
        <p:spPr>
          <a:xfrm>
            <a:off x="4176000" y="835200"/>
            <a:ext cx="352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数字孪生</a:t>
            </a:r>
          </a:p>
        </p:txBody>
      </p:sp>
      <p:sp>
        <p:nvSpPr>
          <p:cNvPr id="26" name="r26"/>
          <p:cNvSpPr/>
          <p:nvPr/>
        </p:nvSpPr>
        <p:spPr>
          <a:xfrm>
            <a:off x="4176000" y="1044000"/>
            <a:ext cx="3528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b27"/>
          <p:cNvSpPr txBox="1"/>
          <p:nvPr/>
        </p:nvSpPr>
        <p:spPr>
          <a:xfrm>
            <a:off x="4284000" y="1134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车间布局可视化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4284000" y="1393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机器状态实时映射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4392000" y="16524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idle（灰）/ running（绿）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4284000" y="19116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作业进度跟踪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4392000" y="2170800"/>
            <a:ext cx="324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waiting / running / done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4284000" y="2430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时间轴播放 / 暂停控制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4284000" y="2689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抽象调度方案直观可见</a:t>
            </a:r>
          </a:p>
        </p:txBody>
      </p:sp>
      <p:sp>
        <p:nvSpPr>
          <p:cNvPr id="34" name="r34"/>
          <p:cNvSpPr/>
          <p:nvPr/>
        </p:nvSpPr>
        <p:spPr>
          <a:xfrm>
            <a:off x="7920000" y="792000"/>
            <a:ext cx="3528000" cy="251999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b35"/>
          <p:cNvSpPr txBox="1"/>
          <p:nvPr/>
        </p:nvSpPr>
        <p:spPr>
          <a:xfrm>
            <a:off x="7920000" y="835200"/>
            <a:ext cx="3528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600" b="1" dirty="0">
                <a:solidFill>
                  <a:srgbClr val="FFFFFF"/>
                </a:solidFill>
                <a:latin typeface="微软雅黑"/>
                <a:ea typeface="微软雅黑"/>
              </a:rPr>
              <a:t>数据分析</a:t>
            </a:r>
          </a:p>
        </p:txBody>
      </p:sp>
      <p:sp>
        <p:nvSpPr>
          <p:cNvPr id="36" name="r36"/>
          <p:cNvSpPr/>
          <p:nvPr/>
        </p:nvSpPr>
        <p:spPr>
          <a:xfrm>
            <a:off x="7920000" y="1044000"/>
            <a:ext cx="3528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b37"/>
          <p:cNvSpPr txBox="1"/>
          <p:nvPr/>
        </p:nvSpPr>
        <p:spPr>
          <a:xfrm>
            <a:off x="8028000" y="1134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实例统计信息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8028000" y="1393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加工时间分布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8028000" y="16524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机器负荷分析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8028000" y="19116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瓶颈机器 / 工装识别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8028000" y="21708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多实例横向对比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8028000" y="24300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规模分布图表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8028000" y="2689200"/>
            <a:ext cx="3348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✓ 数据驱动调度决策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05  测试与验证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432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自动化测试（4 套件 28 项全通过）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432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graphicFrame>
        <p:nvGraphicFramePr>
          <p:cNvPr id="16" name="t16"/>
          <p:cNvGraphicFramePr/>
          <p:nvPr/>
        </p:nvGraphicFramePr>
        <p:xfrm>
          <a:off x="432000" y="1080000"/>
          <a:ext cx="540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3420000"/>
              </a:tblGrid>
              <a:tr h="2304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测试套件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项数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覆盖内容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304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遗传算法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初始化 / 染色体生成 / 解码 / 完整求解 / 机器利用率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304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数据库模块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初始化 / 任务管理 / 结果管理 / 数据集缓存 / 系统日志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304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数据分析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初始化 / 实例统计 / 瓶颈识别 / 概览 / 对比 / 结果分析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30400"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API 接口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enter"/>
                      <a:r>
                        <a:rPr lang="zh-CN" sz="1100" b="0" dirty="0">
                          <a:solidFill>
                            <a:srgbClr val="3D4F5F"/>
                          </a:solidFill>
                          <a:latin typeface="微软雅黑"/>
                          <a:ea typeface="微软雅黑"/>
                        </a:rPr>
                        <a:t>健康检查 / 数据集 / 调度 / 分析 / 历史等全接口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b17"/>
          <p:cNvSpPr txBox="1"/>
          <p:nvPr/>
        </p:nvSpPr>
        <p:spPr>
          <a:xfrm>
            <a:off x="6120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调度结果验证</a:t>
            </a:r>
          </a:p>
        </p:txBody>
      </p:sp>
      <p:cxnSp>
        <p:nvCxnSpPr>
          <p:cNvPr id="18" name="l18"/>
          <p:cNvCxnSpPr/>
          <p:nvPr/>
        </p:nvCxnSpPr>
        <p:spPr>
          <a:xfrm>
            <a:off x="6120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19" name="r19"/>
          <p:cNvSpPr/>
          <p:nvPr/>
        </p:nvSpPr>
        <p:spPr>
          <a:xfrm>
            <a:off x="6120000" y="1080000"/>
            <a:ext cx="2520000" cy="100799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20"/>
          <p:cNvSpPr txBox="1"/>
          <p:nvPr/>
        </p:nvSpPr>
        <p:spPr>
          <a:xfrm>
            <a:off x="6120000" y="1152000"/>
            <a:ext cx="2520000" cy="432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4400" b="1" dirty="0">
                <a:solidFill>
                  <a:srgbClr val="C9A66B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6120000" y="1620000"/>
            <a:ext cx="25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100" b="0" dirty="0">
                <a:solidFill>
                  <a:srgbClr val="FFFFFF"/>
                </a:solidFill>
                <a:latin typeface="微软雅黑"/>
                <a:ea typeface="微软雅黑"/>
              </a:rPr>
              <a:t>FJSP-F1 Makespan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6120000" y="1800000"/>
            <a:ext cx="25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000" b="0" dirty="0">
                <a:solidFill>
                  <a:srgbClr val="64748B"/>
                </a:solidFill>
                <a:latin typeface="微软雅黑"/>
                <a:ea typeface="微软雅黑"/>
              </a:rPr>
              <a:t>（3 作业 × 2 机器 × 2 工装）</a:t>
            </a:r>
          </a:p>
        </p:txBody>
      </p:sp>
      <p:sp>
        <p:nvSpPr>
          <p:cNvPr id="23" name="r23"/>
          <p:cNvSpPr/>
          <p:nvPr/>
        </p:nvSpPr>
        <p:spPr>
          <a:xfrm>
            <a:off x="8820000" y="1080000"/>
            <a:ext cx="2520000" cy="100799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8820000" y="1152000"/>
            <a:ext cx="2520000" cy="432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4000" b="1" dirty="0">
                <a:solidFill>
                  <a:srgbClr val="FFFFFF"/>
                </a:solidFill>
                <a:latin typeface="微软雅黑"/>
                <a:ea typeface="微软雅黑"/>
              </a:rPr>
              <a:t>96.4%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8820000" y="1620000"/>
            <a:ext cx="25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100" b="0" dirty="0">
                <a:solidFill>
                  <a:srgbClr val="FFFFFF"/>
                </a:solidFill>
                <a:latin typeface="微软雅黑"/>
                <a:ea typeface="微软雅黑"/>
              </a:rPr>
              <a:t>机器利用率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8820000" y="1800000"/>
            <a:ext cx="25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1000" b="0" dirty="0">
                <a:solidFill>
                  <a:srgbClr val="E8DCC8"/>
                </a:solidFill>
                <a:latin typeface="微软雅黑"/>
                <a:ea typeface="微软雅黑"/>
              </a:rPr>
              <a:t>0.33 秒求解</a:t>
            </a:r>
          </a:p>
        </p:txBody>
      </p:sp>
      <p:sp>
        <p:nvSpPr>
          <p:cNvPr id="27" name="r27"/>
          <p:cNvSpPr/>
          <p:nvPr/>
        </p:nvSpPr>
        <p:spPr>
          <a:xfrm>
            <a:off x="432000" y="2412000"/>
            <a:ext cx="11088000" cy="503999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b28"/>
          <p:cNvSpPr txBox="1"/>
          <p:nvPr/>
        </p:nvSpPr>
        <p:spPr>
          <a:xfrm>
            <a:off x="576000" y="2466000"/>
            <a:ext cx="1080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0D1B2A"/>
                </a:solidFill>
                <a:latin typeface="微软雅黑"/>
                <a:ea typeface="微软雅黑"/>
              </a:rPr>
              <a:t>端到端流程验证（8 步全通过）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576000" y="2664000"/>
            <a:ext cx="10800000" cy="216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获取实例列表 → 查看详情 → 查看统计 → 识别瓶颈 → 执行调度 → 查看决策解释 → 查看历史 → 多实例对比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05  AI 使用披露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432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所用工具与关键策略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432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16" name="tb16"/>
          <p:cNvSpPr txBox="1"/>
          <p:nvPr/>
        </p:nvSpPr>
        <p:spPr>
          <a:xfrm>
            <a:off x="432000" y="1116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工具：豆包 AI 助手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432000" y="1368000"/>
            <a:ext cx="522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• 提示词工程：任务拆解、约束说明、验收标准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432000" y="1591200"/>
            <a:ext cx="522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• 上下文工程：项目规则文件、先读代码再改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432000" y="1814400"/>
            <a:ext cx="522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• 规格驱动开发：需求 → 计划 → 分步实现 → 逐步验收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432000" y="2037600"/>
            <a:ext cx="522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• 自动化测试：4 套件 28 项，核心模块全覆盖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432000" y="2260800"/>
            <a:ext cx="522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• 人工审查：关键算法逐行审查，确保逻辑正确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432000" y="2484000"/>
            <a:ext cx="522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0" dirty="0">
                <a:solidFill>
                  <a:srgbClr val="3D4F5F"/>
                </a:solidFill>
                <a:latin typeface="微软雅黑"/>
                <a:ea typeface="微软雅黑"/>
              </a:rPr>
              <a:t>• 调试接管：回滚、缩小改动、最小复现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940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AI 出错案例及纠正（6 例）</a:t>
            </a:r>
          </a:p>
        </p:txBody>
      </p:sp>
      <p:cxnSp>
        <p:nvCxnSpPr>
          <p:cNvPr id="24" name="l24"/>
          <p:cNvCxnSpPr/>
          <p:nvPr/>
        </p:nvCxnSpPr>
        <p:spPr>
          <a:xfrm>
            <a:off x="5940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25" name="r25"/>
          <p:cNvSpPr/>
          <p:nvPr/>
        </p:nvSpPr>
        <p:spPr>
          <a:xfrm>
            <a:off x="5940000" y="1116000"/>
            <a:ext cx="288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b26"/>
          <p:cNvSpPr txBox="1"/>
          <p:nvPr/>
        </p:nvSpPr>
        <p:spPr>
          <a:xfrm>
            <a:off x="6083999" y="1116000"/>
            <a:ext cx="5220000" cy="144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原生 DLL 被阻止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6083999" y="1252800"/>
            <a:ext cx="52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20%"/>
            <a:r>
              <a:rPr lang="zh-CN" sz="1050" b="0" dirty="0">
                <a:solidFill>
                  <a:srgbClr val="3D4F5F"/>
                </a:solidFill>
                <a:latin typeface="微软雅黑"/>
                <a:ea typeface="微软雅黑"/>
              </a:rPr>
              <a:t>AI 建议 FastAPI + numpy → 改用纯 Python Flask + 自研 GA</a:t>
            </a:r>
          </a:p>
        </p:txBody>
      </p:sp>
      <p:sp>
        <p:nvSpPr>
          <p:cNvPr id="28" name="r28"/>
          <p:cNvSpPr/>
          <p:nvPr/>
        </p:nvSpPr>
        <p:spPr>
          <a:xfrm>
            <a:off x="5940000" y="1447200"/>
            <a:ext cx="288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b29"/>
          <p:cNvSpPr txBox="1"/>
          <p:nvPr/>
        </p:nvSpPr>
        <p:spPr>
          <a:xfrm>
            <a:off x="6083999" y="1447200"/>
            <a:ext cx="5220000" cy="144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.mat 解析失败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6083999" y="1584000"/>
            <a:ext cx="52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20%"/>
            <a:r>
              <a:rPr lang="zh-CN" sz="1050" b="0" dirty="0">
                <a:solidFill>
                  <a:srgbClr val="3D4F5F"/>
                </a:solidFill>
                <a:latin typeface="微软雅黑"/>
                <a:ea typeface="微软雅黑"/>
              </a:rPr>
              <a:t>AI 建议 scipy → 编写纯 Python 解析器，逐步调试修复</a:t>
            </a:r>
          </a:p>
        </p:txBody>
      </p:sp>
      <p:sp>
        <p:nvSpPr>
          <p:cNvPr id="31" name="r31"/>
          <p:cNvSpPr/>
          <p:nvPr/>
        </p:nvSpPr>
        <p:spPr>
          <a:xfrm>
            <a:off x="5940000" y="1778400"/>
            <a:ext cx="288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b32"/>
          <p:cNvSpPr txBox="1"/>
          <p:nvPr/>
        </p:nvSpPr>
        <p:spPr>
          <a:xfrm>
            <a:off x="6083999" y="1778400"/>
            <a:ext cx="5220000" cy="144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Git HTTPS 失败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6083999" y="1915200"/>
            <a:ext cx="52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20%"/>
            <a:r>
              <a:rPr lang="zh-CN" sz="1050" b="0" dirty="0">
                <a:solidFill>
                  <a:srgbClr val="3D4F5F"/>
                </a:solidFill>
                <a:latin typeface="微软雅黑"/>
                <a:ea typeface="微软雅黑"/>
              </a:rPr>
              <a:t>AI 建议标准 HTTPS → 改用 SSH + 443 端口</a:t>
            </a:r>
          </a:p>
        </p:txBody>
      </p:sp>
      <p:sp>
        <p:nvSpPr>
          <p:cNvPr id="34" name="r34"/>
          <p:cNvSpPr/>
          <p:nvPr/>
        </p:nvSpPr>
        <p:spPr>
          <a:xfrm>
            <a:off x="5940000" y="2109600"/>
            <a:ext cx="288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b35"/>
          <p:cNvSpPr txBox="1"/>
          <p:nvPr/>
        </p:nvSpPr>
        <p:spPr>
          <a:xfrm>
            <a:off x="6083999" y="2109600"/>
            <a:ext cx="5220000" cy="144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Popen title 崩溃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6083999" y="2246400"/>
            <a:ext cx="52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20%"/>
            <a:r>
              <a:rPr lang="zh-CN" sz="1050" b="0" dirty="0">
                <a:solidFill>
                  <a:srgbClr val="3D4F5F"/>
                </a:solidFill>
                <a:latin typeface="微软雅黑"/>
                <a:ea typeface="微软雅黑"/>
              </a:rPr>
              <a:t>AI 建议 title 参数 → 移除参数，改纯 bat 实现</a:t>
            </a:r>
          </a:p>
        </p:txBody>
      </p:sp>
      <p:sp>
        <p:nvSpPr>
          <p:cNvPr id="37" name="r37"/>
          <p:cNvSpPr/>
          <p:nvPr/>
        </p:nvSpPr>
        <p:spPr>
          <a:xfrm>
            <a:off x="5940000" y="2440800"/>
            <a:ext cx="288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b38"/>
          <p:cNvSpPr txBox="1"/>
          <p:nvPr/>
        </p:nvSpPr>
        <p:spPr>
          <a:xfrm>
            <a:off x="6083999" y="2440800"/>
            <a:ext cx="5220000" cy="144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甘特图空白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6083999" y="2577600"/>
            <a:ext cx="52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20%"/>
            <a:r>
              <a:rPr lang="zh-CN" sz="1050" b="0" dirty="0">
                <a:solidFill>
                  <a:srgbClr val="3D4F5F"/>
                </a:solidFill>
                <a:latin typeface="微软雅黑"/>
                <a:ea typeface="微软雅黑"/>
              </a:rPr>
              <a:t>AI 建议 clipRectByRect → 移除，改直接矩形渲染</a:t>
            </a:r>
          </a:p>
        </p:txBody>
      </p:sp>
      <p:sp>
        <p:nvSpPr>
          <p:cNvPr id="40" name="r40"/>
          <p:cNvSpPr/>
          <p:nvPr/>
        </p:nvSpPr>
        <p:spPr>
          <a:xfrm>
            <a:off x="5940000" y="2772000"/>
            <a:ext cx="288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b41"/>
          <p:cNvSpPr txBox="1"/>
          <p:nvPr/>
        </p:nvSpPr>
        <p:spPr>
          <a:xfrm>
            <a:off x="6083999" y="2772000"/>
            <a:ext cx="5220000" cy="144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启动闪退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6083999" y="2908800"/>
            <a:ext cx="52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20%"/>
            <a:r>
              <a:rPr lang="zh-CN" sz="1050" b="0" dirty="0">
                <a:solidFill>
                  <a:srgbClr val="3D4F5F"/>
                </a:solidFill>
                <a:latin typeface="微软雅黑"/>
                <a:ea typeface="微软雅黑"/>
              </a:rPr>
              <a:t>AI 建议 subprocess 管理 → 改纯 bat + 三级 Python 搜索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576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432000" y="125999"/>
            <a:ext cx="10080000" cy="3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06  总结与展望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432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成果总结</a:t>
            </a:r>
          </a:p>
        </p:txBody>
      </p:sp>
      <p:cxnSp>
        <p:nvCxnSpPr>
          <p:cNvPr id="15" name="l15"/>
          <p:cNvCxnSpPr/>
          <p:nvPr/>
        </p:nvCxnSpPr>
        <p:spPr>
          <a:xfrm>
            <a:off x="432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16" name="tb16"/>
          <p:cNvSpPr txBox="1"/>
          <p:nvPr/>
        </p:nvSpPr>
        <p:spPr>
          <a:xfrm>
            <a:off x="432000" y="1116000"/>
            <a:ext cx="1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684000" y="1116000"/>
            <a:ext cx="504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完整 B/S 架构系统：Flask 后端 + Vue3 前端 + SQLite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432000" y="1339200"/>
            <a:ext cx="1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684000" y="1339200"/>
            <a:ext cx="504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自研遗传算法：POX 交叉，含工装约束，Makespan = 28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432000" y="1562400"/>
            <a:ext cx="1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684000" y="1562400"/>
            <a:ext cx="504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4 个技术方向全覆盖：调度 / 大数据 / 数字孪生 / 系统集成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432000" y="1785600"/>
            <a:ext cx="1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684000" y="1785600"/>
            <a:ext cx="504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20 个 FJSP-F 实例纯 Python 预处理，数据可复现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432000" y="2008800"/>
            <a:ext cx="1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684000" y="2008800"/>
            <a:ext cx="504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28 项自动化测试全通过，端到端流程验证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432000" y="2232000"/>
            <a:ext cx="1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684000" y="2232000"/>
            <a:ext cx="504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需求规格说明书 1.1 万字 + 系统设计报告 3.6 万字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432000" y="2455200"/>
            <a:ext cx="18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684000" y="2455200"/>
            <a:ext cx="5040000" cy="198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一键启动 / 关闭，纯 Python 轻量架构，受限环境可运行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5940000" y="75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00%"/>
            <a:r>
              <a:rPr lang="zh-CN" sz="1700" b="1" dirty="0">
                <a:solidFill>
                  <a:srgbClr val="0D1B2A"/>
                </a:solidFill>
                <a:latin typeface="微软雅黑"/>
                <a:ea typeface="微软雅黑"/>
              </a:rPr>
              <a:t>不足与未来展望</a:t>
            </a:r>
          </a:p>
        </p:txBody>
      </p:sp>
      <p:cxnSp>
        <p:nvCxnSpPr>
          <p:cNvPr id="31" name="l31"/>
          <p:cNvCxnSpPr/>
          <p:nvPr/>
        </p:nvCxnSpPr>
        <p:spPr>
          <a:xfrm>
            <a:off x="5940000" y="990000"/>
            <a:ext cx="1260000" cy="0"/>
          </a:xfrm>
          <a:prstGeom prst="line">
            <a:avLst/>
          </a:prstGeom>
          <a:ln w="15875">
            <a:solidFill>
              <a:srgbClr val="C9A66B"/>
            </a:solidFill>
          </a:ln>
        </p:spPr>
      </p:cxnSp>
      <p:sp>
        <p:nvSpPr>
          <p:cNvPr id="32" name="tb32"/>
          <p:cNvSpPr txBox="1"/>
          <p:nvPr/>
        </p:nvSpPr>
        <p:spPr>
          <a:xfrm>
            <a:off x="5940000" y="1116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64748B"/>
                </a:solidFill>
                <a:latin typeface="微软雅黑"/>
                <a:ea typeface="微软雅黑"/>
              </a:rPr>
              <a:t>当前不足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5940000" y="1332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算法单一（仅遗传算法）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5940000" y="1530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单目标优化（仅 Makespan）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5940000" y="1728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数字孪生为二维简化模型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5940000" y="1926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• 未支持动态事件重调度</a:t>
            </a:r>
          </a:p>
        </p:txBody>
      </p:sp>
      <p:sp>
        <p:nvSpPr>
          <p:cNvPr id="37" name="tb37"/>
          <p:cNvSpPr txBox="1"/>
          <p:nvPr/>
        </p:nvSpPr>
        <p:spPr>
          <a:xfrm>
            <a:off x="5940000" y="2196000"/>
            <a:ext cx="504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5940000" y="2412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→ 多算法融合（模拟退火 / 强化学习）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5940000" y="2610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→ 多目标优化（工期 + 成本 + 能耗）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5940000" y="2808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→ 实时调度与重调度（设备故障 / 紧急插单）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5940000" y="3006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→ 大模型深度集成（自然语言交互调度）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5940000" y="3204000"/>
            <a:ext cx="5220000" cy="1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left" lnSpc="100%"/>
            <a:r>
              <a:rPr lang="zh-CN" sz="1150" b="0" dirty="0">
                <a:solidFill>
                  <a:srgbClr val="3D4F5F"/>
                </a:solidFill>
                <a:latin typeface="微软雅黑"/>
                <a:ea typeface="微软雅黑"/>
              </a:rPr>
              <a:t>→ MES 系统集成（OPC UA / RESTful 对接）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3060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540000" y="1980000"/>
            <a:ext cx="10800000" cy="72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4800" b="1" dirty="0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540000" y="3240000"/>
            <a:ext cx="10800000" cy="36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algn="center" lnSpc="100%"/>
            <a:r>
              <a:rPr lang="zh-CN" sz="2000" b="0" dirty="0">
                <a:solidFill>
                  <a:srgbClr val="E8DCC8"/>
                </a:solidFill>
                <a:latin typeface="微软雅黑"/>
                <a:ea typeface="微软雅黑"/>
              </a:rPr>
              <a:t>敬请各位老师批评指正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540000" y="4320000"/>
            <a:ext cx="10800000" cy="10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70%"/>
            <a:r>
              <a:rPr lang="zh-CN" sz="1400" b="0" dirty="0">
                <a:solidFill>
                  <a:srgbClr val="64748B"/>
                </a:solidFill>
                <a:latin typeface="微软雅黑"/>
                <a:ea typeface="微软雅黑"/>
              </a:rPr>
              <a:t>柔性作业车间智能调度辅助 Agent 系统</a:t>
            </a:r>
          </a:p>
          <a:p>
            <a:pPr algn="center"/>
          </a:p>
          <a:p>
            <a:pPr algn="center" lnSpc="170%"/>
            <a:r>
              <a:rPr lang="zh-CN" sz="1400" b="0" dirty="0">
                <a:solidFill>
                  <a:srgbClr val="64748B"/>
                </a:solidFill>
                <a:latin typeface="微软雅黑"/>
                <a:ea typeface="微软雅黑"/>
              </a:rPr>
              <a:t>学生：李勇琦（学号 09）  |  指导教师：董绪斌</a:t>
            </a:r>
          </a:p>
          <a:p>
            <a:pPr algn="center" lnSpc="170%"/>
            <a:r>
              <a:rPr lang="zh-CN" sz="1400" b="0" dirty="0">
                <a:solidFill>
                  <a:srgbClr val="64748B"/>
                </a:solidFill>
                <a:latin typeface="微软雅黑"/>
                <a:ea typeface="微软雅黑"/>
              </a:rPr>
              <a:t>制造智能技术课程设计  |  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0D1B2A"/>
      </a:dk1>
      <a:lt1>
        <a:srgbClr val="F7F7F8"/>
      </a:lt1>
      <a:dk2>
        <a:srgbClr val="64748B"/>
      </a:dk2>
      <a:lt2>
        <a:srgbClr val="EEF0F2"/>
      </a:lt2>
      <a:accent1>
        <a:srgbClr val="C9A66B"/>
      </a:accent1>
      <a:accent2>
        <a:srgbClr val="64748B"/>
      </a:accent2>
      <a:accent3>
        <a:srgbClr val="E8DCC8"/>
      </a:accent3>
      <a:accent4>
        <a:srgbClr val="3D4F5F"/>
      </a:accent4>
      <a:accent5>
        <a:srgbClr val="0D1B2A"/>
      </a:accent5>
      <a:accent6>
        <a:srgbClr val="64748B"/>
      </a:accent6>
      <a:hlink>
        <a:srgbClr val="C9A66B"/>
      </a:hlink>
      <a:folHlink>
        <a:srgbClr val="64748B"/>
      </a:folHlink>
    </a:clrScheme>
    <a:fontScheme name="Custom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主题</vt:lpstr>
      </vt:variant>
      <vt:variant>
        <vt:i4>1</vt:i4>
      </vt:variant>
    </vt:vector>
  </HeadingPairs>
  <TitlesOfParts>
    <vt:vector size="1" baseType="lpstr">
      <vt:lpstr>柔性作业车间智能调度辅助Agent系统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柔性作业车间智能调度辅助Agent系统-答辩PPT</dc:title>
  <dc:creator>李勇琦</dc:creator>
  <cp:lastModifiedBy>李勇琦</cp:lastModifiedBy>
  <dcterms:created xsi:type="dcterms:W3CDTF">2026-09-03T00:00:00Z</dcterms:created>
  <dcterms:modified xsi:type="dcterms:W3CDTF">2026-09-03T00:00:00Z</dcterms:modified>
</cp:coreProperties>
</file>